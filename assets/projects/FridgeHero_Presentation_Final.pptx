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grandir" charset="1" panose="00000500000000000000"/>
      <p:regular r:id="rId20"/>
    </p:embeddedFont>
    <p:embeddedFont>
      <p:font typeface="Agrandir Bold" charset="1" panose="00000800000000000000"/>
      <p:regular r:id="rId22"/>
    </p:embeddedFont>
    <p:embeddedFont>
      <p:font typeface="Telegraf" charset="1" panose="00000500000000000000"/>
      <p:regular r:id="rId26"/>
    </p:embeddedFont>
    <p:embeddedFont>
      <p:font typeface="Georgia Italics" charset="1" panose="02040502050405090303"/>
      <p:regular r:id="rId27"/>
    </p:embeddedFont>
    <p:embeddedFont>
      <p:font typeface="Telegraf Bold" charset="1" panose="00000800000000000000"/>
      <p:regular r:id="rId29"/>
    </p:embeddedFont>
    <p:embeddedFont>
      <p:font typeface="Agrandir Medium" charset="1" panose="000006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- reach users like Jessica, we focus on where she’s already making decisions: parent groups on Facebook and Instagram, influencer partnerships, and meal-planning or coupon communities.</a:t>
            </a:r>
          </a:p>
          <a:p>
            <a:r>
              <a:rPr lang="en-US"/>
              <a:t/>
            </a:r>
          </a:p>
          <a:p>
            <a:r>
              <a:rPr lang="en-US"/>
              <a:t>- a freemium model—free tracking gets users in, and we monetize through premium features like meal planning, analytics, and family sharing.</a:t>
            </a:r>
          </a:p>
          <a:p>
            <a:r>
              <a:rPr lang="en-US"/>
              <a:t/>
            </a:r>
          </a:p>
          <a:p>
            <a:r>
              <a:rPr lang="en-US"/>
              <a:t>- a simple funnel—awareness through content around food waste, activation with instant receipt scanning, retention through reminders and reports, and growth driven by word of mouth within families.</a:t>
            </a:r>
          </a:p>
          <a:p>
            <a:r>
              <a:rPr lang="en-US"/>
              <a:t/>
            </a:r>
          </a:p>
          <a:p>
            <a:r>
              <a:rPr lang="en-US"/>
              <a:t>-Overall, we’re meeting Jessica where she is, delivering immediate value, and building habits that keep her coming back.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https://preview--figgy-build-buddy.lovable.app/?__lovable_token=eyJhbGciOiJSUzI1NiIsInR5cCI6IkpXVCJ9.eyJ1c2VyX2lkIjoidlYyekNmOTBrdmVScDh3SGlGZExFY2xsZ1g3MyIsInByb2plY3RfaWQiOiJjZjJmNGNiMi01NzYzLTRlNDItYTQ0YS0zN2JjMmUyMTU2N2YiLCJhY2Nlc3NfdHlwZSI6InByb2plY3QiLCJpc3MiOiJsb3ZhYmxlLWFwaSIsInN1YiI6ImNmMmY0Y2IyLTU3NjMtNGU0Mi1hNDRhLTM3YmMyZTIxNTY3ZiIsImF1ZCI6WyJsb3ZhYmxlLWFwcCJdLCJleHAiOjE3NzY3MDEwMDgsIm5iZiI6MTc3NjA5NjIwOCwiaWF0IjoxNzc2MDk2MjA4fQ.FLgzbBX3BjGCib1pfC3RYNWG3lCz0zf8L0wTmG6Vddi8MAN4_lEPOnMMiypDVeybErQjtXFkQS_Inf4auuleyUG-WBLVAvCv8iVhraCrMRBYS5FQC1-JiVOAX4VO85ZnBBXdtLrQxXqcr-eI87nU_O-HOjwcMDGMGUkH7Xf2EuZH1QqBUX29-TmNlK0A4DpwfkWatqSByI3XYjRD-NJwfrmvS1cnwqOfM2wIOJlIm9Wcv_eb5Q4I5IGqEslIruWBAsM44W5Um1G3SKlC1ZUejWHJLMA9dyNavHTXWe3KCvO-qPpJxbE7_KEqlqVcW72TdF8vYuRjeMtx_xJJzwJKjCVmzPAny0rpBLw3M7soLbeFxBRAnprAF15Vnxl3pJc2Bkw1TZRFALIZFbcycIoPEXgB9sngDWmHhBXAWTKSylssbJYL7hK2NiWMp4mbrWHwIscTolNF2AICUCBG7jvc9DgR6xFrEROaVE9AndOi8t5BE7pxX1cp7Jkv0FIzojkCce7-iH53oB22YbC4JgoK-fQx6fD2VT3URC8yVMrvbzd0D3ooK4S0ZR-Q0zqto9hXcsW1sWDxE437zQQjvLsWpeplcYasuNvOxyAWk5FNUTcpqw0eO_HYMovY9uClf8iPzbaFrgrebSt4UL8dAeXm_Edcy4tbKpT7-FuVqy1mDI0" TargetMode="External" Type="http://schemas.openxmlformats.org/officeDocument/2006/relationships/hyperlink"/><Relationship Id="rId6" Target="https://preview--figgy-build-buddy.lovable.app/?__lovable_token=eyJhbGciOiJSUzI1NiIsInR5cCI6IkpXVCJ9.eyJ1c2VyX2lkIjoidlYyekNmOTBrdmVScDh3SGlGZExFY2xsZ1g3MyIsInByb2plY3RfaWQiOiJjZjJmNGNiMi01NzYzLTRlNDItYTQ0YS0zN2JjMmUyMTU2N2YiLCJhY2Nlc3NfdHlwZSI6InByb2plY3QiLCJpc3MiOiJsb3ZhYmxlLWFwaSIsInN1YiI6ImNmMmY0Y2IyLTU3NjMtNGU0Mi1hNDRhLTM3YmMyZTIxNTY3ZiIsImF1ZCI6WyJsb3ZhYmxlLWFwcCJdLCJleHAiOjE3NzY3MDEwMDgsIm5iZiI6MTc3NjA5NjIwOCwiaWF0IjoxNzc2MDk2MjA4fQ.FLgzbBX3BjGCib1pfC3RYNWG3lCz0zf8L0wTmG6Vddi8MAN4_lEPOnMMiypDVeybErQjtXFkQS_Inf4auuleyUG-WBLVAvCv8iVhraCrMRBYS5FQC1-JiVOAX4VO85ZnBBXdtLrQxXqcr-eI87nU_O-HOjwcMDGMGUkH7Xf2EuZH1QqBUX29-TmNlK0A4DpwfkWatqSByI3XYjRD-NJwfrmvS1cnwqOfM2wIOJlIm9Wcv_eb5Q4I5IGqEslIruWBAsM44W5Um1G3SKlC1ZUejWHJLMA9dyNavHTXWe3KCvO-qPpJxbE7_KEqlqVcW72TdF8vYuRjeMtx_xJJzwJKjCVmzPAny0rpBLw3M7soLbeFxBRAnprAF15Vnxl3pJc2Bkw1TZRFALIZFbcycIoPEXgB9sngDWmHhBXAWTKSylssbJYL7hK2NiWMp4mbrWHwIscTolNF2AICUCBG7jvc9DgR6xFrEROaVE9AndOi8t5BE7pxX1cp7Jkv0FIzojkCce7-iH53oB22YbC4JgoK-fQx6fD2VT3URC8yVMrvbzd0D3ooK4S0ZR-Q0zqto9hXcsW1sWDxE437zQQjvLsWpeplcYasuNvOxyAWk5FNUTcpqw0eO_HYMovY9uClf8iPzbaFrgrebSt4UL8dAeXm_Edcy4tbKpT7-FuVqy1mDI0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9.png" Type="http://schemas.openxmlformats.org/officeDocument/2006/relationships/image"/><Relationship Id="rId4" Target="../media/image2.jpeg" Type="http://schemas.openxmlformats.org/officeDocument/2006/relationships/image"/><Relationship Id="rId5" Target="https://preview--figgy-build-buddy.lovable.app/?__lovable_token=eyJhbGciOiJSUzI1NiIsInR5cCI6IkpXVCJ9.eyJ1c2VyX2lkIjoidlYyekNmOTBrdmVScDh3SGlGZExFY2xsZ1g3MyIsInByb2plY3RfaWQiOiJjZjJmNGNiMi01NzYzLTRlNDItYTQ0YS0zN2JjMmUyMTU2N2YiLCJhY2Nlc3NfdHlwZSI6InByb2plY3QiLCJpc3MiOiJsb3ZhYmxlLWFwaSIsInN1YiI6ImNmMmY0Y2IyLTU3NjMtNGU0Mi1hNDRhLTM3YmMyZTIxNTY3ZiIsImF1ZCI6WyJsb3ZhYmxlLWFwcCJdLCJleHAiOjE3NzY3MDEwMDgsIm5iZiI6MTc3NjA5NjIwOCwiaWF0IjoxNzc2MDk2MjA4fQ.FLgzbBX3BjGCib1pfC3RYNWG3lCz0zf8L0wTmG6Vddi8MAN4_lEPOnMMiypDVeybErQjtXFkQS_Inf4auuleyUG-WBLVAvCv8iVhraCrMRBYS5FQC1-JiVOAX4VO85ZnBBXdtLrQxXqcr-eI87nU_O-HOjwcMDGMGUkH7Xf2EuZH1QqBUX29-TmNlK0A4DpwfkWatqSByI3XYjRD-NJwfrmvS1cnwqOfM2wIOJlIm9Wcv_eb5Q4I5IGqEslIruWBAsM44W5Um1G3SKlC1ZUejWHJLMA9dyNavHTXWe3KCvO-qPpJxbE7_KEqlqVcW72TdF8vYuRjeMtx_xJJzwJKjCVmzPAny0rpBLw3M7soLbeFxBRAnprAF15Vnxl3pJc2Bkw1TZRFALIZFbcycIoPEXgB9sngDWmHhBXAWTKSylssbJYL7hK2NiWMp4mbrWHwIscTolNF2AICUCBG7jvc9DgR6xFrEROaVE9AndOi8t5BE7pxX1cp7Jkv0FIzojkCce7-iH53oB22YbC4JgoK-fQx6fD2VT3URC8yVMrvbzd0D3ooK4S0ZR-Q0zqto9hXcsW1sWDxE437zQQjvLsWpeplcYasuNvOxyAWk5FNUTcpqw0eO_HYMovY9uClf8iPzbaFrgrebSt4UL8dAeXm_Edcy4tbKpT7-FuVqy1mDI0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250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4D31">
                <a:alpha val="3568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1463040"/>
            <a:ext cx="7315200" cy="2194560"/>
            <a:chOff x="0" y="0"/>
            <a:chExt cx="975360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53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0"/>
              <a:ext cx="9753600" cy="3211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3657600"/>
            <a:ext cx="7315200" cy="1828800"/>
            <a:chOff x="0" y="0"/>
            <a:chExt cx="9753600" cy="243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57175"/>
              <a:ext cx="9753600" cy="2695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4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Reducing Food Waste,</a:t>
              </a:r>
            </a:p>
            <a:p>
              <a:pPr algn="l">
                <a:lnSpc>
                  <a:spcPts val="6240"/>
                </a:lnSpc>
              </a:pPr>
              <a:r>
                <a:rPr lang="en-US" sz="4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One Household at a Time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37637" y="5826757"/>
            <a:ext cx="4622797" cy="50797"/>
            <a:chOff x="0" y="0"/>
            <a:chExt cx="6163729" cy="67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3909" y="0"/>
              <a:ext cx="6096000" cy="67691"/>
            </a:xfrm>
            <a:custGeom>
              <a:avLst/>
              <a:gdLst/>
              <a:ahLst/>
              <a:cxnLst/>
              <a:rect r="r" b="b" t="t" l="l"/>
              <a:pathLst>
                <a:path h="67691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FFF5E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3040" y="6400800"/>
            <a:ext cx="7315200" cy="1463040"/>
            <a:chOff x="0" y="0"/>
            <a:chExt cx="9753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0"/>
              <a:ext cx="975360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smart food tracking app that helps families</a:t>
              </a:r>
            </a:p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save money, reduce waste, and eat better.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144000"/>
            <a:ext cx="18288000" cy="1143000"/>
            <a:chOff x="0" y="0"/>
            <a:chExt cx="243840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6361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63040" y="9326880"/>
            <a:ext cx="7315200" cy="731520"/>
            <a:chOff x="0" y="0"/>
            <a:chExt cx="975360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Food Waste Tracker Team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0" y="9326880"/>
            <a:ext cx="6400800" cy="731520"/>
            <a:chOff x="0" y="0"/>
            <a:chExt cx="853440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8534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u="sng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  <a:hlinkClick r:id="rId5" tooltip="https://preview--figgy-build-buddy.lovable.app/?__lovable_token=eyJhbGciOiJSUzI1NiIsInR5cCI6IkpXVCJ9.eyJ1c2VyX2lkIjoidlYyekNmOTBrdmVScDh3SGlGZExFY2xsZ1g3MyIsInByb2plY3RfaWQiOiJjZjJmNGNiMi01NzYzLTRlNDItYTQ0YS0zN2JjMmUyMTU2N2YiLCJhY2Nlc3NfdHlwZSI6InByb2plY3QiLCJpc3MiOiJsb3ZhYmxlLWFwaSIsInN1YiI6ImNmMmY0Y2IyLTU3NjMtNGU0Mi1hNDRhLTM3YmMyZTIxNTY3ZiIsImF1ZCI6WyJsb3ZhYmxlLWFwcCJdLCJleHAiOjE3NzY3MDEwMDgsIm5iZiI6MTc3NjA5NjIwOCwiaWF0IjoxNzc2MDk2MjA4fQ.FLgzbBX3BjGCib1pfC3RYNWG3lCz0zf8L0wTmG6Vddi8MAN4_lEPOnMMiypDVeybErQjtXFkQS_Inf4auuleyUG-WBLVAvCv8iVhraCrMRBYS5FQC1-JiVOAX4VO85ZnBBXdtLrQxXqcr-eI87nU_O-HOjwcMDGMGUkH7Xf2EuZH1QqBUX29-TmNlK0A4DpwfkWatqSByI3XYjRD-NJwfrmvS1cnwqOfM2wIOJlIm9Wcv_eb5Q4I5IGqEslIruWBAsM44W5Um1G3SKlC1ZUejWHJLMA9dyNavHTXWe3KCvO-qPpJxbE7_KEqlqVcW72TdF8vYuRjeMtx_xJJzwJKjCVmzPAny0rpBLw3M7soLbeFxBRAnprAF15Vnxl3pJc2Bkw1TZRFALIZFbcycIoPEXgB9sngDWmHhBXAWTKSylssbJYL7hK2NiWMp4mbrWHwIscTolNF2AICUCBG7jvc9DgR6xFrEROaVE9AndOi8t5BE7pxX1cp7Jkv0FIzojkCce7-iH53oB22YbC4JgoK-fQx6fD2VT3URC8yVMrvbzd0D3ooK4S0ZR-Q0zqto9hXcsW1sWDxE437zQQjvLsWpeplcYasuNvOxyAWk5FNUTcpqw0eO_HYMovY9uClf8iPzbaFrgrebSt4UL8dAeXm_Edcy4tbKpT7-FuVqy1mDI0"/>
                </a:rPr>
                <a:t>F</a:t>
              </a:r>
              <a:r>
                <a:rPr lang="en-US" sz="2000" u="sng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  <a:hlinkClick r:id="rId6" tooltip="https://preview--figgy-build-buddy.lovable.app/?__lovable_token=eyJhbGciOiJSUzI1NiIsInR5cCI6IkpXVCJ9.eyJ1c2VyX2lkIjoidlYyekNmOTBrdmVScDh3SGlGZExFY2xsZ1g3MyIsInByb2plY3RfaWQiOiJjZjJmNGNiMi01NzYzLTRlNDItYTQ0YS0zN2JjMmUyMTU2N2YiLCJhY2Nlc3NfdHlwZSI6InByb2plY3QiLCJpc3MiOiJsb3ZhYmxlLWFwaSIsInN1YiI6ImNmMmY0Y2IyLTU3NjMtNGU0Mi1hNDRhLTM3YmMyZTIxNTY3ZiIsImF1ZCI6WyJsb3ZhYmxlLWFwcCJdLCJleHAiOjE3NzY3MDEwMDgsIm5iZiI6MTc3NjA5NjIwOCwiaWF0IjoxNzc2MDk2MjA4fQ.FLgzbBX3BjGCib1pfC3RYNWG3lCz0zf8L0wTmG6Vddi8MAN4_lEPOnMMiypDVeybErQjtXFkQS_Inf4auuleyUG-WBLVAvCv8iVhraCrMRBYS5FQC1-JiVOAX4VO85ZnBBXdtLrQxXqcr-eI87nU_O-HOjwcMDGMGUkH7Xf2EuZH1QqBUX29-TmNlK0A4DpwfkWatqSByI3XYjRD-NJwfrmvS1cnwqOfM2wIOJlIm9Wcv_eb5Q4I5IGqEslIruWBAsM44W5Um1G3SKlC1ZUejWHJLMA9dyNavHTXWe3KCvO-qPpJxbE7_KEqlqVcW72TdF8vYuRjeMtx_xJJzwJKjCVmzPAny0rpBLw3M7soLbeFxBRAnprAF15Vnxl3pJc2Bkw1TZRFALIZFbcycIoPEXgB9sngDWmHhBXAWTKSylssbJYL7hK2NiWMp4mbrWHwIscTolNF2AICUCBG7jvc9DgR6xFrEROaVE9AndOi8t5BE7pxX1cp7Jkv0FIzojkCce7-iH53oB22YbC4JgoK-fQx6fD2VT3URC8yVMrvbzd0D3ooK4S0ZR-Q0zqto9hXcsW1sWDxE437zQQjvLsWpeplcYasuNvOxyAWk5FNUTcpqw0eO_HYMovY9uClf8iPzbaFrgrebSt4UL8dAeXm_Edcy4tbKpT7-FuVqy1mDI0"/>
                </a:rPr>
                <a:t>ridgehero App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60045" y="521843"/>
            <a:ext cx="6599255" cy="548640"/>
            <a:chOff x="0" y="0"/>
            <a:chExt cx="8799007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99007" cy="731520"/>
            </a:xfrm>
            <a:custGeom>
              <a:avLst/>
              <a:gdLst/>
              <a:ahLst/>
              <a:cxnLst/>
              <a:rect r="r" b="b" t="t" l="l"/>
              <a:pathLst>
                <a:path h="731520" w="8799007">
                  <a:moveTo>
                    <a:pt x="0" y="0"/>
                  </a:moveTo>
                  <a:lnTo>
                    <a:pt x="8799007" y="0"/>
                  </a:lnTo>
                  <a:lnTo>
                    <a:pt x="879900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-2535" b="-1903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79900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293971"/>
            <a:ext cx="7315200" cy="2771902"/>
            <a:chOff x="0" y="0"/>
            <a:chExt cx="9753600" cy="36958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3695869"/>
            </a:xfrm>
            <a:custGeom>
              <a:avLst/>
              <a:gdLst/>
              <a:ahLst/>
              <a:cxnLst/>
              <a:rect r="r" b="b" t="t" l="l"/>
              <a:pathLst>
                <a:path h="36958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695869"/>
                  </a:lnTo>
                  <a:lnTo>
                    <a:pt x="0" y="36958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8" r="0" b="239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38125"/>
              <a:ext cx="9753600" cy="393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F5F0E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The</a:t>
              </a:r>
            </a:p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F5F0E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Problem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4065873"/>
            <a:ext cx="7680960" cy="1613433"/>
            <a:chOff x="0" y="0"/>
            <a:chExt cx="10241280" cy="2151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2151245"/>
            </a:xfrm>
            <a:custGeom>
              <a:avLst/>
              <a:gdLst/>
              <a:ahLst/>
              <a:cxnLst/>
              <a:rect r="r" b="b" t="t" l="l"/>
              <a:pathLst>
                <a:path h="215124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51245"/>
                  </a:lnTo>
                  <a:lnTo>
                    <a:pt x="0" y="2151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1" r="0" b="-381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10241280" cy="2341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8"/>
                </a:lnSpc>
              </a:pPr>
              <a:r>
                <a:rPr lang="en-US" sz="2600">
                  <a:solidFill>
                    <a:srgbClr val="FFF5EA"/>
                  </a:solidFill>
                  <a:latin typeface="Agrandir"/>
                  <a:ea typeface="Agrandir"/>
                  <a:cs typeface="Agrandir"/>
                  <a:sym typeface="Agrandir"/>
                </a:rPr>
                <a:t>30–40% of all food in the U.S. is wasted — costing families thousands each year while filling landfills.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400" y="1293971"/>
            <a:ext cx="7200900" cy="2743200"/>
            <a:chOff x="0" y="0"/>
            <a:chExt cx="9601200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01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601200">
                  <a:moveTo>
                    <a:pt x="412851" y="0"/>
                  </a:moveTo>
                  <a:lnTo>
                    <a:pt x="9188349" y="0"/>
                  </a:lnTo>
                  <a:cubicBezTo>
                    <a:pt x="9416360" y="0"/>
                    <a:pt x="9601200" y="184840"/>
                    <a:pt x="9601200" y="412851"/>
                  </a:cubicBezTo>
                  <a:lnTo>
                    <a:pt x="9601200" y="3244749"/>
                  </a:lnTo>
                  <a:cubicBezTo>
                    <a:pt x="9601200" y="3472761"/>
                    <a:pt x="9416360" y="3657600"/>
                    <a:pt x="9188349" y="3657600"/>
                  </a:cubicBezTo>
                  <a:lnTo>
                    <a:pt x="412851" y="3657600"/>
                  </a:lnTo>
                  <a:cubicBezTo>
                    <a:pt x="184840" y="3657600"/>
                    <a:pt x="0" y="3472761"/>
                    <a:pt x="0" y="3244749"/>
                  </a:cubicBezTo>
                  <a:lnTo>
                    <a:pt x="0" y="412851"/>
                  </a:lnTo>
                  <a:cubicBezTo>
                    <a:pt x="0" y="184840"/>
                    <a:pt x="184840" y="0"/>
                    <a:pt x="412851" y="0"/>
                  </a:cubicBezTo>
                  <a:close/>
                </a:path>
              </a:pathLst>
            </a:custGeom>
            <a:solidFill>
              <a:srgbClr val="16361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058400" y="1554480"/>
            <a:ext cx="7315200" cy="1721307"/>
            <a:chOff x="0" y="0"/>
            <a:chExt cx="9753600" cy="22950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2295076"/>
            </a:xfrm>
            <a:custGeom>
              <a:avLst/>
              <a:gdLst/>
              <a:ahLst/>
              <a:cxnLst/>
              <a:rect r="r" b="b" t="t" l="l"/>
              <a:pathLst>
                <a:path h="22950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295076"/>
                  </a:lnTo>
                  <a:lnTo>
                    <a:pt x="0" y="2295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09" r="0" b="-253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38125"/>
              <a:ext cx="9753600" cy="2533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>
                  <a:solidFill>
                    <a:srgbClr val="F5F0E8"/>
                  </a:solidFill>
                  <a:latin typeface="Agrandir"/>
                  <a:ea typeface="Agrandir"/>
                  <a:cs typeface="Agrandir"/>
                  <a:sym typeface="Agrandir"/>
                </a:rPr>
                <a:t>$728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58400" y="2926080"/>
            <a:ext cx="7315200" cy="914400"/>
            <a:chOff x="0" y="0"/>
            <a:chExt cx="97536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9753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wasted per person per year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058400" y="4447937"/>
            <a:ext cx="7200900" cy="2743200"/>
            <a:chOff x="0" y="0"/>
            <a:chExt cx="9601200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01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9601200">
                  <a:moveTo>
                    <a:pt x="412851" y="0"/>
                  </a:moveTo>
                  <a:lnTo>
                    <a:pt x="9188349" y="0"/>
                  </a:lnTo>
                  <a:cubicBezTo>
                    <a:pt x="9416360" y="0"/>
                    <a:pt x="9601200" y="184840"/>
                    <a:pt x="9601200" y="412851"/>
                  </a:cubicBezTo>
                  <a:lnTo>
                    <a:pt x="9601200" y="3244749"/>
                  </a:lnTo>
                  <a:cubicBezTo>
                    <a:pt x="9601200" y="3472761"/>
                    <a:pt x="9416360" y="3657600"/>
                    <a:pt x="9188349" y="3657600"/>
                  </a:cubicBezTo>
                  <a:lnTo>
                    <a:pt x="412851" y="3657600"/>
                  </a:lnTo>
                  <a:cubicBezTo>
                    <a:pt x="184840" y="3657600"/>
                    <a:pt x="0" y="3472761"/>
                    <a:pt x="0" y="3244749"/>
                  </a:cubicBezTo>
                  <a:lnTo>
                    <a:pt x="0" y="412851"/>
                  </a:lnTo>
                  <a:cubicBezTo>
                    <a:pt x="0" y="184840"/>
                    <a:pt x="184840" y="0"/>
                    <a:pt x="412851" y="0"/>
                  </a:cubicBezTo>
                  <a:close/>
                </a:path>
              </a:pathLst>
            </a:custGeom>
            <a:solidFill>
              <a:srgbClr val="44654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0" y="4697492"/>
            <a:ext cx="7315200" cy="1721307"/>
            <a:chOff x="0" y="0"/>
            <a:chExt cx="9753600" cy="22950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2295076"/>
            </a:xfrm>
            <a:custGeom>
              <a:avLst/>
              <a:gdLst/>
              <a:ahLst/>
              <a:cxnLst/>
              <a:rect r="r" b="b" t="t" l="l"/>
              <a:pathLst>
                <a:path h="229507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295076"/>
                  </a:lnTo>
                  <a:lnTo>
                    <a:pt x="0" y="2295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09" r="0" b="-253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38125"/>
              <a:ext cx="9753600" cy="2533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>
                  <a:solidFill>
                    <a:srgbClr val="F5F0E8"/>
                  </a:solidFill>
                  <a:latin typeface="Agrandir"/>
                  <a:ea typeface="Agrandir"/>
                  <a:cs typeface="Agrandir"/>
                  <a:sym typeface="Agrandir"/>
                </a:rPr>
                <a:t>$2,913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58400" y="6069092"/>
            <a:ext cx="7315200" cy="914400"/>
            <a:chOff x="0" y="0"/>
            <a:chExt cx="97536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9753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wasted per family of four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8700" y="7601902"/>
            <a:ext cx="16230600" cy="1724978"/>
            <a:chOff x="0" y="0"/>
            <a:chExt cx="21640800" cy="22999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640800" cy="2299970"/>
            </a:xfrm>
            <a:custGeom>
              <a:avLst/>
              <a:gdLst/>
              <a:ahLst/>
              <a:cxnLst/>
              <a:rect r="r" b="b" t="t" l="l"/>
              <a:pathLst>
                <a:path h="2299970" w="21640800">
                  <a:moveTo>
                    <a:pt x="398386" y="0"/>
                  </a:moveTo>
                  <a:lnTo>
                    <a:pt x="21242413" y="0"/>
                  </a:lnTo>
                  <a:cubicBezTo>
                    <a:pt x="21348072" y="0"/>
                    <a:pt x="21449404" y="41973"/>
                    <a:pt x="21524116" y="116685"/>
                  </a:cubicBezTo>
                  <a:cubicBezTo>
                    <a:pt x="21598827" y="191397"/>
                    <a:pt x="21640800" y="292728"/>
                    <a:pt x="21640800" y="398386"/>
                  </a:cubicBezTo>
                  <a:lnTo>
                    <a:pt x="21640800" y="1901584"/>
                  </a:lnTo>
                  <a:cubicBezTo>
                    <a:pt x="21640800" y="2007242"/>
                    <a:pt x="21598827" y="2108573"/>
                    <a:pt x="21524116" y="2183285"/>
                  </a:cubicBezTo>
                  <a:cubicBezTo>
                    <a:pt x="21449404" y="2257997"/>
                    <a:pt x="21348072" y="2299970"/>
                    <a:pt x="21242413" y="2299970"/>
                  </a:cubicBezTo>
                  <a:lnTo>
                    <a:pt x="398386" y="2299970"/>
                  </a:lnTo>
                  <a:cubicBezTo>
                    <a:pt x="292728" y="2299970"/>
                    <a:pt x="191397" y="2257997"/>
                    <a:pt x="116685" y="2183285"/>
                  </a:cubicBezTo>
                  <a:cubicBezTo>
                    <a:pt x="41973" y="2108573"/>
                    <a:pt x="0" y="2007242"/>
                    <a:pt x="0" y="1901584"/>
                  </a:cubicBezTo>
                  <a:lnTo>
                    <a:pt x="0" y="398386"/>
                  </a:lnTo>
                  <a:cubicBezTo>
                    <a:pt x="0" y="292728"/>
                    <a:pt x="41973" y="191397"/>
                    <a:pt x="116685" y="116685"/>
                  </a:cubicBezTo>
                  <a:cubicBezTo>
                    <a:pt x="191397" y="41973"/>
                    <a:pt x="292728" y="0"/>
                    <a:pt x="398386" y="0"/>
                  </a:cubicBezTo>
                  <a:close/>
                </a:path>
              </a:pathLst>
            </a:custGeom>
            <a:solidFill>
              <a:srgbClr val="3D6B4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94560" y="7955280"/>
            <a:ext cx="731520" cy="731520"/>
            <a:chOff x="0" y="0"/>
            <a:chExt cx="975360" cy="97536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91840" y="7772400"/>
            <a:ext cx="3657600" cy="1094511"/>
            <a:chOff x="0" y="0"/>
            <a:chExt cx="4876800" cy="14593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1459349"/>
            </a:xfrm>
            <a:custGeom>
              <a:avLst/>
              <a:gdLst/>
              <a:ahLst/>
              <a:cxnLst/>
              <a:rect r="r" b="b" t="t" l="l"/>
              <a:pathLst>
                <a:path h="1459349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59349"/>
                  </a:lnTo>
                  <a:lnTo>
                    <a:pt x="0" y="1459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2" r="0" b="-68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71450"/>
              <a:ext cx="4876800" cy="1630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F5F0E8"/>
                  </a:solidFill>
                  <a:latin typeface="Agrandir"/>
                  <a:ea typeface="Agrandir"/>
                  <a:cs typeface="Agrandir"/>
                  <a:sym typeface="Agrandir"/>
                </a:rPr>
                <a:t>30–40%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91840" y="8595360"/>
            <a:ext cx="5486400" cy="731520"/>
            <a:chOff x="0" y="0"/>
            <a:chExt cx="7315200" cy="975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73152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of U.S. food supply is wasted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607040" y="7955280"/>
            <a:ext cx="731520" cy="731520"/>
            <a:chOff x="0" y="0"/>
            <a:chExt cx="975360" cy="97536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704320" y="7772400"/>
            <a:ext cx="3657600" cy="1094511"/>
            <a:chOff x="0" y="0"/>
            <a:chExt cx="4876800" cy="14593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1459349"/>
            </a:xfrm>
            <a:custGeom>
              <a:avLst/>
              <a:gdLst/>
              <a:ahLst/>
              <a:cxnLst/>
              <a:rect r="r" b="b" t="t" l="l"/>
              <a:pathLst>
                <a:path h="1459349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59349"/>
                  </a:lnTo>
                  <a:lnTo>
                    <a:pt x="0" y="1459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42" r="0" b="-688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71450"/>
              <a:ext cx="4876800" cy="1630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F5F0E8"/>
                  </a:solidFill>
                  <a:latin typeface="Agrandir"/>
                  <a:ea typeface="Agrandir"/>
                  <a:cs typeface="Agrandir"/>
                  <a:sym typeface="Agrandir"/>
                </a:rPr>
                <a:t>$240B+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04320" y="8595360"/>
            <a:ext cx="5486400" cy="731520"/>
            <a:chOff x="0" y="0"/>
            <a:chExt cx="731520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975360"/>
            </a:xfrm>
            <a:custGeom>
              <a:avLst/>
              <a:gdLst/>
              <a:ahLst/>
              <a:cxnLst/>
              <a:rect r="r" b="b" t="t" l="l"/>
              <a:pathLst>
                <a:path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73152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lost annually in the U.S.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8700" y="9555480"/>
            <a:ext cx="9144000" cy="457200"/>
            <a:chOff x="0" y="0"/>
            <a:chExt cx="121920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9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1920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Source: EPA Food Waste Research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96403"/>
            <a:ext cx="9144000" cy="2771902"/>
            <a:chOff x="0" y="0"/>
            <a:chExt cx="12192000" cy="3695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3695869"/>
            </a:xfrm>
            <a:custGeom>
              <a:avLst/>
              <a:gdLst/>
              <a:ahLst/>
              <a:cxnLst/>
              <a:rect r="r" b="b" t="t" l="l"/>
              <a:pathLst>
                <a:path h="3695869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695869"/>
                  </a:lnTo>
                  <a:lnTo>
                    <a:pt x="0" y="36958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12192000" cy="393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Market</a:t>
              </a:r>
            </a:p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Opportunity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039603"/>
            <a:ext cx="9144000" cy="1613433"/>
            <a:chOff x="0" y="0"/>
            <a:chExt cx="12192000" cy="2151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2151244"/>
            </a:xfrm>
            <a:custGeom>
              <a:avLst/>
              <a:gdLst/>
              <a:ahLst/>
              <a:cxnLst/>
              <a:rect r="r" b="b" t="t" l="l"/>
              <a:pathLst>
                <a:path h="215124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151244"/>
                  </a:lnTo>
                  <a:lnTo>
                    <a:pt x="0" y="21512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757" r="0" b="-501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0"/>
              <a:ext cx="12192000" cy="2341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8"/>
                </a:lnSpc>
              </a:pPr>
              <a:r>
                <a:rPr lang="en-US" sz="26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 massive, untapped consumer problem — difficult to solve because it requires behavior change and lacks aligned incentives.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07040" y="1463040"/>
            <a:ext cx="6766560" cy="4189997"/>
            <a:chOff x="0" y="0"/>
            <a:chExt cx="9022080" cy="5586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22080" cy="5586662"/>
            </a:xfrm>
            <a:custGeom>
              <a:avLst/>
              <a:gdLst/>
              <a:ahLst/>
              <a:cxnLst/>
              <a:rect r="r" b="b" t="t" l="l"/>
              <a:pathLst>
                <a:path h="5586662" w="9022080">
                  <a:moveTo>
                    <a:pt x="406400" y="0"/>
                  </a:moveTo>
                  <a:lnTo>
                    <a:pt x="8615680" y="0"/>
                  </a:lnTo>
                  <a:cubicBezTo>
                    <a:pt x="8840129" y="0"/>
                    <a:pt x="9022080" y="181951"/>
                    <a:pt x="9022080" y="406400"/>
                  </a:cubicBezTo>
                  <a:lnTo>
                    <a:pt x="9022080" y="5180262"/>
                  </a:lnTo>
                  <a:cubicBezTo>
                    <a:pt x="9022080" y="5288046"/>
                    <a:pt x="8979264" y="5391415"/>
                    <a:pt x="8903049" y="5467630"/>
                  </a:cubicBezTo>
                  <a:cubicBezTo>
                    <a:pt x="8826834" y="5543845"/>
                    <a:pt x="8723464" y="5586662"/>
                    <a:pt x="8615680" y="5586662"/>
                  </a:cubicBezTo>
                  <a:lnTo>
                    <a:pt x="406400" y="5586662"/>
                  </a:lnTo>
                  <a:cubicBezTo>
                    <a:pt x="298616" y="5586662"/>
                    <a:pt x="195247" y="5543845"/>
                    <a:pt x="119032" y="5467630"/>
                  </a:cubicBezTo>
                  <a:cubicBezTo>
                    <a:pt x="42817" y="5391415"/>
                    <a:pt x="0" y="5288046"/>
                    <a:pt x="0" y="5180262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16361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55680" y="1828800"/>
            <a:ext cx="731520" cy="731520"/>
            <a:chOff x="0" y="0"/>
            <a:chExt cx="975360" cy="97536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55680" y="2743200"/>
            <a:ext cx="5669280" cy="2185467"/>
            <a:chOff x="0" y="0"/>
            <a:chExt cx="7559040" cy="29139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59040" cy="2913956"/>
            </a:xfrm>
            <a:custGeom>
              <a:avLst/>
              <a:gdLst/>
              <a:ahLst/>
              <a:cxnLst/>
              <a:rect r="r" b="b" t="t" l="l"/>
              <a:pathLst>
                <a:path h="291395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913956"/>
                  </a:lnTo>
                  <a:lnTo>
                    <a:pt x="0" y="29139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73" r="0" b="159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57175"/>
              <a:ext cx="7559040" cy="3171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39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Limited Competition</a:t>
              </a:r>
            </a:p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Very few competitors in the U.S. are addressing food waste at the household level.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1402" y="6047737"/>
            <a:ext cx="7835061" cy="3291840"/>
            <a:chOff x="0" y="0"/>
            <a:chExt cx="10446748" cy="4389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46748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446748">
                  <a:moveTo>
                    <a:pt x="398407" y="0"/>
                  </a:moveTo>
                  <a:lnTo>
                    <a:pt x="10048342" y="0"/>
                  </a:lnTo>
                  <a:cubicBezTo>
                    <a:pt x="10154006" y="0"/>
                    <a:pt x="10255342" y="41975"/>
                    <a:pt x="10330058" y="116691"/>
                  </a:cubicBezTo>
                  <a:cubicBezTo>
                    <a:pt x="10404773" y="191406"/>
                    <a:pt x="10446748" y="292743"/>
                    <a:pt x="10446748" y="398407"/>
                  </a:cubicBezTo>
                  <a:lnTo>
                    <a:pt x="10446748" y="3990713"/>
                  </a:lnTo>
                  <a:cubicBezTo>
                    <a:pt x="10446748" y="4096377"/>
                    <a:pt x="10404773" y="4197714"/>
                    <a:pt x="10330058" y="4272430"/>
                  </a:cubicBezTo>
                  <a:cubicBezTo>
                    <a:pt x="10255342" y="4347145"/>
                    <a:pt x="10154006" y="4389120"/>
                    <a:pt x="10048342" y="4389120"/>
                  </a:cubicBezTo>
                  <a:lnTo>
                    <a:pt x="398407" y="4389120"/>
                  </a:lnTo>
                  <a:cubicBezTo>
                    <a:pt x="292743" y="4389120"/>
                    <a:pt x="191406" y="4347145"/>
                    <a:pt x="116691" y="4272430"/>
                  </a:cubicBezTo>
                  <a:cubicBezTo>
                    <a:pt x="41975" y="4197714"/>
                    <a:pt x="0" y="4096377"/>
                    <a:pt x="0" y="3990713"/>
                  </a:cubicBezTo>
                  <a:lnTo>
                    <a:pt x="0" y="398407"/>
                  </a:lnTo>
                  <a:cubicBezTo>
                    <a:pt x="0" y="292743"/>
                    <a:pt x="41975" y="191406"/>
                    <a:pt x="116691" y="116691"/>
                  </a:cubicBezTo>
                  <a:cubicBezTo>
                    <a:pt x="191406" y="41975"/>
                    <a:pt x="292743" y="0"/>
                    <a:pt x="398407" y="0"/>
                  </a:cubicBezTo>
                  <a:close/>
                </a:path>
              </a:pathLst>
            </a:custGeom>
            <a:solidFill>
              <a:srgbClr val="44654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6035040"/>
            <a:ext cx="7847763" cy="3317243"/>
            <a:chOff x="0" y="0"/>
            <a:chExt cx="10463684" cy="442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63593" cy="4422902"/>
            </a:xfrm>
            <a:custGeom>
              <a:avLst/>
              <a:gdLst/>
              <a:ahLst/>
              <a:cxnLst/>
              <a:rect r="r" b="b" t="t" l="l"/>
              <a:pathLst>
                <a:path h="4422902" w="10463593">
                  <a:moveTo>
                    <a:pt x="34155" y="0"/>
                  </a:moveTo>
                  <a:lnTo>
                    <a:pt x="10446393" y="0"/>
                  </a:lnTo>
                  <a:cubicBezTo>
                    <a:pt x="10455963" y="0"/>
                    <a:pt x="10463593" y="7620"/>
                    <a:pt x="10463593" y="16891"/>
                  </a:cubicBezTo>
                  <a:lnTo>
                    <a:pt x="10463593" y="4406011"/>
                  </a:lnTo>
                  <a:cubicBezTo>
                    <a:pt x="10463593" y="4415409"/>
                    <a:pt x="10455833" y="4422902"/>
                    <a:pt x="10446393" y="4422902"/>
                  </a:cubicBezTo>
                  <a:lnTo>
                    <a:pt x="17201" y="4422902"/>
                  </a:lnTo>
                  <a:cubicBezTo>
                    <a:pt x="7630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760" y="0"/>
                    <a:pt x="17201" y="0"/>
                  </a:cubicBezTo>
                  <a:lnTo>
                    <a:pt x="17201" y="25400"/>
                  </a:lnTo>
                  <a:cubicBezTo>
                    <a:pt x="17201" y="25400"/>
                    <a:pt x="17201" y="25400"/>
                    <a:pt x="17201" y="25400"/>
                  </a:cubicBezTo>
                  <a:lnTo>
                    <a:pt x="17201" y="25400"/>
                  </a:lnTo>
                  <a:cubicBezTo>
                    <a:pt x="17201" y="20701"/>
                    <a:pt x="21011" y="16891"/>
                    <a:pt x="25710" y="16891"/>
                  </a:cubicBezTo>
                  <a:lnTo>
                    <a:pt x="25866" y="16891"/>
                  </a:lnTo>
                  <a:cubicBezTo>
                    <a:pt x="28164" y="16891"/>
                    <a:pt x="30368" y="17804"/>
                    <a:pt x="31993" y="19429"/>
                  </a:cubicBezTo>
                  <a:cubicBezTo>
                    <a:pt x="33618" y="21054"/>
                    <a:pt x="34531" y="23258"/>
                    <a:pt x="34531" y="25556"/>
                  </a:cubicBezTo>
                  <a:lnTo>
                    <a:pt x="34531" y="4397346"/>
                  </a:lnTo>
                  <a:cubicBezTo>
                    <a:pt x="34531" y="4399644"/>
                    <a:pt x="33618" y="4401848"/>
                    <a:pt x="31993" y="4403473"/>
                  </a:cubicBezTo>
                  <a:cubicBezTo>
                    <a:pt x="30368" y="4405098"/>
                    <a:pt x="28164" y="4406011"/>
                    <a:pt x="25866" y="4406011"/>
                  </a:cubicBezTo>
                  <a:lnTo>
                    <a:pt x="25646" y="4406011"/>
                  </a:lnTo>
                  <a:cubicBezTo>
                    <a:pt x="20982" y="4406011"/>
                    <a:pt x="17201" y="4402230"/>
                    <a:pt x="17201" y="4397566"/>
                  </a:cubicBezTo>
                  <a:lnTo>
                    <a:pt x="17201" y="4397566"/>
                  </a:lnTo>
                  <a:cubicBezTo>
                    <a:pt x="17201" y="4392901"/>
                    <a:pt x="20982" y="4389120"/>
                    <a:pt x="25646" y="4389120"/>
                  </a:cubicBezTo>
                  <a:lnTo>
                    <a:pt x="10437947" y="4389120"/>
                  </a:lnTo>
                  <a:cubicBezTo>
                    <a:pt x="10442611" y="4389120"/>
                    <a:pt x="10446393" y="4392901"/>
                    <a:pt x="10446393" y="4397566"/>
                  </a:cubicBezTo>
                  <a:lnTo>
                    <a:pt x="10446393" y="4397566"/>
                  </a:lnTo>
                  <a:cubicBezTo>
                    <a:pt x="10446393" y="4402230"/>
                    <a:pt x="10442611" y="4406011"/>
                    <a:pt x="10437947" y="4406011"/>
                  </a:cubicBezTo>
                  <a:lnTo>
                    <a:pt x="10437792" y="4406011"/>
                  </a:lnTo>
                  <a:cubicBezTo>
                    <a:pt x="10433042" y="4406011"/>
                    <a:pt x="10429191" y="4402160"/>
                    <a:pt x="10429191" y="4397410"/>
                  </a:cubicBezTo>
                  <a:lnTo>
                    <a:pt x="10429191" y="25492"/>
                  </a:lnTo>
                  <a:cubicBezTo>
                    <a:pt x="10429191" y="20742"/>
                    <a:pt x="10433042" y="16891"/>
                    <a:pt x="10437792" y="16891"/>
                  </a:cubicBezTo>
                  <a:lnTo>
                    <a:pt x="10437884" y="16891"/>
                  </a:lnTo>
                  <a:cubicBezTo>
                    <a:pt x="10442583" y="16891"/>
                    <a:pt x="10446393" y="20701"/>
                    <a:pt x="10446393" y="25400"/>
                  </a:cubicBezTo>
                  <a:lnTo>
                    <a:pt x="10446393" y="25400"/>
                  </a:lnTo>
                  <a:cubicBezTo>
                    <a:pt x="10446393" y="30099"/>
                    <a:pt x="10442583" y="33909"/>
                    <a:pt x="10437884" y="33909"/>
                  </a:cubicBezTo>
                  <a:lnTo>
                    <a:pt x="34155" y="33909"/>
                  </a:lnTo>
                  <a:cubicBezTo>
                    <a:pt x="24792" y="33909"/>
                    <a:pt x="17201" y="26318"/>
                    <a:pt x="17201" y="16955"/>
                  </a:cubicBezTo>
                  <a:lnTo>
                    <a:pt x="17201" y="16955"/>
                  </a:lnTo>
                  <a:cubicBezTo>
                    <a:pt x="17201" y="7591"/>
                    <a:pt x="24792" y="0"/>
                    <a:pt x="34155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90042" y="7145017"/>
            <a:ext cx="6400800" cy="1412672"/>
            <a:chOff x="0" y="0"/>
            <a:chExt cx="8534400" cy="18835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34400" cy="1883563"/>
            </a:xfrm>
            <a:custGeom>
              <a:avLst/>
              <a:gdLst/>
              <a:ahLst/>
              <a:cxnLst/>
              <a:rect r="r" b="b" t="t" l="l"/>
              <a:pathLst>
                <a:path h="1883563" w="8534400">
                  <a:moveTo>
                    <a:pt x="406400" y="0"/>
                  </a:moveTo>
                  <a:lnTo>
                    <a:pt x="8128000" y="0"/>
                  </a:lnTo>
                  <a:cubicBezTo>
                    <a:pt x="8352448" y="0"/>
                    <a:pt x="8534400" y="181951"/>
                    <a:pt x="8534400" y="406400"/>
                  </a:cubicBezTo>
                  <a:lnTo>
                    <a:pt x="8534400" y="1477163"/>
                  </a:lnTo>
                  <a:cubicBezTo>
                    <a:pt x="8534400" y="1584947"/>
                    <a:pt x="8491583" y="1688316"/>
                    <a:pt x="8415369" y="1764531"/>
                  </a:cubicBezTo>
                  <a:cubicBezTo>
                    <a:pt x="8339154" y="1840746"/>
                    <a:pt x="8235784" y="1883563"/>
                    <a:pt x="8128000" y="1883563"/>
                  </a:cubicBezTo>
                  <a:lnTo>
                    <a:pt x="406400" y="1883563"/>
                  </a:lnTo>
                  <a:cubicBezTo>
                    <a:pt x="181951" y="1883563"/>
                    <a:pt x="0" y="1701611"/>
                    <a:pt x="0" y="1477163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00025"/>
              <a:ext cx="8534400" cy="2083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$134B+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90042" y="8242297"/>
            <a:ext cx="6400800" cy="914400"/>
            <a:chOff x="0" y="0"/>
            <a:chExt cx="853440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406400" y="0"/>
                  </a:moveTo>
                  <a:lnTo>
                    <a:pt x="8128000" y="0"/>
                  </a:lnTo>
                  <a:cubicBezTo>
                    <a:pt x="8352448" y="0"/>
                    <a:pt x="8534400" y="181951"/>
                    <a:pt x="8534400" y="406400"/>
                  </a:cubicBezTo>
                  <a:lnTo>
                    <a:pt x="8534400" y="812800"/>
                  </a:lnTo>
                  <a:cubicBezTo>
                    <a:pt x="8534400" y="1037249"/>
                    <a:pt x="8352448" y="1219200"/>
                    <a:pt x="8128000" y="1219200"/>
                  </a:cubicBezTo>
                  <a:lnTo>
                    <a:pt x="406400" y="1219200"/>
                  </a:lnTo>
                  <a:cubicBezTo>
                    <a:pt x="181951" y="1219200"/>
                    <a:pt x="0" y="1037249"/>
                    <a:pt x="0" y="8128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14300"/>
              <a:ext cx="85344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The food</a:t>
              </a:r>
              <a:r>
                <a:rPr lang="en-US" sz="22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 waste management market is projected to be 2034 up from 80B this year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89945" y="6035040"/>
            <a:ext cx="8083655" cy="3291840"/>
            <a:chOff x="0" y="0"/>
            <a:chExt cx="10778206" cy="4389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78206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778206">
                  <a:moveTo>
                    <a:pt x="386155" y="0"/>
                  </a:moveTo>
                  <a:lnTo>
                    <a:pt x="10392052" y="0"/>
                  </a:lnTo>
                  <a:cubicBezTo>
                    <a:pt x="10494466" y="0"/>
                    <a:pt x="10592686" y="40684"/>
                    <a:pt x="10665104" y="113102"/>
                  </a:cubicBezTo>
                  <a:cubicBezTo>
                    <a:pt x="10737522" y="185520"/>
                    <a:pt x="10778206" y="283740"/>
                    <a:pt x="10778206" y="386155"/>
                  </a:cubicBezTo>
                  <a:lnTo>
                    <a:pt x="10778206" y="4002965"/>
                  </a:lnTo>
                  <a:cubicBezTo>
                    <a:pt x="10778206" y="4216233"/>
                    <a:pt x="10605319" y="4389120"/>
                    <a:pt x="10392052" y="4389120"/>
                  </a:cubicBezTo>
                  <a:lnTo>
                    <a:pt x="386155" y="4389120"/>
                  </a:lnTo>
                  <a:cubicBezTo>
                    <a:pt x="283740" y="4389120"/>
                    <a:pt x="185520" y="4348436"/>
                    <a:pt x="113102" y="4276018"/>
                  </a:cubicBezTo>
                  <a:cubicBezTo>
                    <a:pt x="40684" y="4203600"/>
                    <a:pt x="0" y="4105380"/>
                    <a:pt x="0" y="4002965"/>
                  </a:cubicBezTo>
                  <a:lnTo>
                    <a:pt x="0" y="386155"/>
                  </a:lnTo>
                  <a:cubicBezTo>
                    <a:pt x="0" y="283740"/>
                    <a:pt x="40684" y="185520"/>
                    <a:pt x="113102" y="113102"/>
                  </a:cubicBezTo>
                  <a:cubicBezTo>
                    <a:pt x="185520" y="40684"/>
                    <a:pt x="283740" y="0"/>
                    <a:pt x="386155" y="0"/>
                  </a:cubicBezTo>
                  <a:close/>
                </a:path>
              </a:pathLst>
            </a:custGeom>
            <a:solidFill>
              <a:srgbClr val="3D6B4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41280" y="7132320"/>
            <a:ext cx="6400800" cy="1412672"/>
            <a:chOff x="0" y="0"/>
            <a:chExt cx="8534400" cy="18835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34400" cy="1883563"/>
            </a:xfrm>
            <a:custGeom>
              <a:avLst/>
              <a:gdLst/>
              <a:ahLst/>
              <a:cxnLst/>
              <a:rect r="r" b="b" t="t" l="l"/>
              <a:pathLst>
                <a:path h="1883563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883563"/>
                  </a:lnTo>
                  <a:lnTo>
                    <a:pt x="0" y="18835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49" r="0" b="-2712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00025"/>
              <a:ext cx="8534400" cy="2083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127M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241280" y="8229600"/>
            <a:ext cx="6400800" cy="914400"/>
            <a:chOff x="0" y="0"/>
            <a:chExt cx="85344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3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85344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U.S. households — families with kids</a:t>
              </a:r>
            </a:p>
            <a:p>
              <a:pPr algn="l">
                <a:lnSpc>
                  <a:spcPts val="3168"/>
                </a:lnSpc>
              </a:pPr>
              <a:r>
                <a:rPr lang="en-US" sz="22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waste the most food per capita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60045" y="521843"/>
            <a:ext cx="6599255" cy="548640"/>
            <a:chOff x="0" y="0"/>
            <a:chExt cx="8799007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99007" cy="731520"/>
            </a:xfrm>
            <a:custGeom>
              <a:avLst/>
              <a:gdLst/>
              <a:ahLst/>
              <a:cxnLst/>
              <a:rect r="r" b="b" t="t" l="l"/>
              <a:pathLst>
                <a:path h="731520" w="8799007">
                  <a:moveTo>
                    <a:pt x="0" y="0"/>
                  </a:moveTo>
                  <a:lnTo>
                    <a:pt x="8799007" y="0"/>
                  </a:lnTo>
                  <a:lnTo>
                    <a:pt x="879900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-2535" b="-19031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79900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Market Opportunity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590042" y="6550576"/>
            <a:ext cx="936797" cy="594441"/>
          </a:xfrm>
          <a:custGeom>
            <a:avLst/>
            <a:gdLst/>
            <a:ahLst/>
            <a:cxnLst/>
            <a:rect r="r" b="b" t="t" l="l"/>
            <a:pathLst>
              <a:path h="594441" w="936797">
                <a:moveTo>
                  <a:pt x="0" y="0"/>
                </a:moveTo>
                <a:lnTo>
                  <a:pt x="936797" y="0"/>
                </a:lnTo>
                <a:lnTo>
                  <a:pt x="936797" y="594441"/>
                </a:lnTo>
                <a:lnTo>
                  <a:pt x="0" y="594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241280" y="6537879"/>
            <a:ext cx="708788" cy="685591"/>
          </a:xfrm>
          <a:custGeom>
            <a:avLst/>
            <a:gdLst/>
            <a:ahLst/>
            <a:cxnLst/>
            <a:rect r="r" b="b" t="t" l="l"/>
            <a:pathLst>
              <a:path h="685591" w="708788">
                <a:moveTo>
                  <a:pt x="0" y="0"/>
                </a:moveTo>
                <a:lnTo>
                  <a:pt x="708788" y="0"/>
                </a:lnTo>
                <a:lnTo>
                  <a:pt x="708788" y="685591"/>
                </a:lnTo>
                <a:lnTo>
                  <a:pt x="0" y="6855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315200" cy="10287000"/>
            <a:chOff x="0" y="0"/>
            <a:chExt cx="9753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83028" y="0"/>
            <a:ext cx="11704972" cy="731520"/>
            <a:chOff x="0" y="0"/>
            <a:chExt cx="15606629" cy="975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06630" cy="975360"/>
            </a:xfrm>
            <a:custGeom>
              <a:avLst/>
              <a:gdLst/>
              <a:ahLst/>
              <a:cxnLst/>
              <a:rect r="r" b="b" t="t" l="l"/>
              <a:pathLst>
                <a:path h="975360" w="15606630">
                  <a:moveTo>
                    <a:pt x="0" y="0"/>
                  </a:moveTo>
                  <a:lnTo>
                    <a:pt x="15606630" y="0"/>
                  </a:lnTo>
                  <a:lnTo>
                    <a:pt x="1560663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0" y="91440"/>
            <a:ext cx="4937760" cy="548640"/>
            <a:chOff x="0" y="0"/>
            <a:chExt cx="658368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Target User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914400"/>
            <a:ext cx="5486400" cy="4572000"/>
            <a:chOff x="0" y="0"/>
            <a:chExt cx="7315200" cy="6096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3152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000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5852160"/>
            <a:ext cx="5486400" cy="914400"/>
            <a:chOff x="0" y="0"/>
            <a:chExt cx="73152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73152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Jessica, 34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6766560"/>
            <a:ext cx="5486400" cy="1828800"/>
            <a:chOff x="0" y="0"/>
            <a:chExt cx="7315200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0"/>
              <a:ext cx="7315200" cy="2628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2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Mother of two, works full-time.</a:t>
              </a:r>
            </a:p>
            <a:p>
              <a:pPr algn="l">
                <a:lnSpc>
                  <a:spcPts val="3960"/>
                </a:lnSpc>
              </a:pPr>
              <a:r>
                <a:rPr lang="en-US" sz="2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Primary grocery shopper.</a:t>
              </a:r>
            </a:p>
            <a:p>
              <a:pPr algn="l">
                <a:lnSpc>
                  <a:spcPts val="3960"/>
                </a:lnSpc>
              </a:pPr>
              <a:r>
                <a:rPr lang="en-US" sz="2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Buys bulk, shops weekly.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778240"/>
            <a:ext cx="5486400" cy="1097280"/>
            <a:chOff x="0" y="0"/>
            <a:chExt cx="73152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731520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~80% of mothers are the primary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grocery shoppers in households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0" y="1280160"/>
            <a:ext cx="9144000" cy="2508047"/>
            <a:chOff x="0" y="0"/>
            <a:chExt cx="12192000" cy="33440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3344062"/>
            </a:xfrm>
            <a:custGeom>
              <a:avLst/>
              <a:gdLst/>
              <a:ahLst/>
              <a:cxnLst/>
              <a:rect r="r" b="b" t="t" l="l"/>
              <a:pathLst>
                <a:path h="334406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344062"/>
                  </a:lnTo>
                  <a:lnTo>
                    <a:pt x="0" y="3344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" r="0" b="-147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00025"/>
              <a:ext cx="12192000" cy="3544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D4D3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Target User</a:t>
              </a:r>
            </a:p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2D4D3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Persona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0" y="3474720"/>
            <a:ext cx="9144000" cy="731520"/>
            <a:chOff x="0" y="0"/>
            <a:chExt cx="1219200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21920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How we identified her: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0" y="4206240"/>
            <a:ext cx="9144000" cy="2194560"/>
            <a:chOff x="0" y="0"/>
            <a:chExt cx="12192000" cy="2926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2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2192000" cy="3002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10 </a:t>
              </a: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in-depth user interviews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Proto-persona mapping across 3 archetypes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Highest food waste per capita among families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Strong financial incentive to change behavior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0" y="6583680"/>
            <a:ext cx="9144000" cy="731520"/>
            <a:chOff x="0" y="0"/>
            <a:chExt cx="1219200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0" cy="975360"/>
            </a:xfrm>
            <a:custGeom>
              <a:avLst/>
              <a:gdLst/>
              <a:ahLst/>
              <a:cxnLst/>
              <a:rect r="r" b="b" t="t" l="l"/>
              <a:pathLst>
                <a:path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21920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Why she's our target user: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0" y="7315200"/>
            <a:ext cx="9144000" cy="1828800"/>
            <a:chOff x="0" y="0"/>
            <a:chExt cx="12192000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219200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Frequent grocery purchases (1-2x/week)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Manages entire household food lifecycle</a:t>
              </a:r>
            </a:p>
            <a:p>
              <a:pPr algn="l" marL="579120" indent="-28956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Wasting $2,900+/year motivates action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0" y="9509760"/>
            <a:ext cx="5486400" cy="457200"/>
            <a:chOff x="0" y="0"/>
            <a:chExt cx="731520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Source: Pew Research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9144000" cy="1253592"/>
            <a:chOff x="0" y="0"/>
            <a:chExt cx="12192000" cy="1671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671456"/>
            </a:xfrm>
            <a:custGeom>
              <a:avLst/>
              <a:gdLst/>
              <a:ahLst/>
              <a:cxnLst/>
              <a:rect r="r" b="b" t="t" l="l"/>
              <a:pathLst>
                <a:path h="167145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671456"/>
                  </a:lnTo>
                  <a:lnTo>
                    <a:pt x="0" y="1671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363" r="0" b="-8589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12192000" cy="1861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Customer Journey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16736"/>
            <a:ext cx="12801600" cy="640080"/>
            <a:chOff x="0" y="0"/>
            <a:chExt cx="170688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068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7BC62"/>
                  </a:solidFill>
                  <a:latin typeface="Telegraf"/>
                  <a:ea typeface="Telegraf"/>
                  <a:cs typeface="Telegraf"/>
                  <a:sym typeface="Telegraf"/>
                </a:rPr>
                <a:t>The current food lifecycle for families like Jessica’s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97053" y="3900173"/>
            <a:ext cx="15059663" cy="63503"/>
            <a:chOff x="0" y="0"/>
            <a:chExt cx="20079551" cy="84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2291" y="0"/>
              <a:ext cx="19812127" cy="84709"/>
            </a:xfrm>
            <a:custGeom>
              <a:avLst/>
              <a:gdLst/>
              <a:ahLst/>
              <a:cxnLst/>
              <a:rect r="r" b="b" t="t" l="l"/>
              <a:pathLst>
                <a:path h="84709" w="19812127">
                  <a:moveTo>
                    <a:pt x="592709" y="0"/>
                  </a:moveTo>
                  <a:lnTo>
                    <a:pt x="846709" y="0"/>
                  </a:lnTo>
                  <a:lnTo>
                    <a:pt x="846709" y="84709"/>
                  </a:lnTo>
                  <a:lnTo>
                    <a:pt x="592709" y="84709"/>
                  </a:lnTo>
                  <a:close/>
                  <a:moveTo>
                    <a:pt x="1185418" y="0"/>
                  </a:moveTo>
                  <a:lnTo>
                    <a:pt x="1439418" y="0"/>
                  </a:lnTo>
                  <a:lnTo>
                    <a:pt x="1439418" y="84709"/>
                  </a:lnTo>
                  <a:lnTo>
                    <a:pt x="1185418" y="84709"/>
                  </a:lnTo>
                  <a:close/>
                  <a:moveTo>
                    <a:pt x="1778127" y="84709"/>
                  </a:moveTo>
                  <a:lnTo>
                    <a:pt x="2032127" y="84709"/>
                  </a:lnTo>
                  <a:lnTo>
                    <a:pt x="1778127" y="84709"/>
                  </a:lnTo>
                  <a:close/>
                  <a:moveTo>
                    <a:pt x="2370709" y="0"/>
                  </a:moveTo>
                  <a:lnTo>
                    <a:pt x="2624709" y="0"/>
                  </a:lnTo>
                  <a:lnTo>
                    <a:pt x="2624709" y="84709"/>
                  </a:lnTo>
                  <a:lnTo>
                    <a:pt x="2370709" y="84709"/>
                  </a:lnTo>
                  <a:close/>
                  <a:moveTo>
                    <a:pt x="2963418" y="84709"/>
                  </a:moveTo>
                  <a:lnTo>
                    <a:pt x="3217418" y="84709"/>
                  </a:lnTo>
                  <a:lnTo>
                    <a:pt x="2963418" y="84709"/>
                  </a:lnTo>
                  <a:close/>
                  <a:moveTo>
                    <a:pt x="3556127" y="84709"/>
                  </a:moveTo>
                  <a:lnTo>
                    <a:pt x="3810127" y="84709"/>
                  </a:lnTo>
                  <a:lnTo>
                    <a:pt x="3556127" y="84709"/>
                  </a:lnTo>
                  <a:close/>
                  <a:moveTo>
                    <a:pt x="4148709" y="0"/>
                  </a:moveTo>
                  <a:lnTo>
                    <a:pt x="4402709" y="0"/>
                  </a:lnTo>
                  <a:lnTo>
                    <a:pt x="4402709" y="84709"/>
                  </a:lnTo>
                  <a:lnTo>
                    <a:pt x="4148709" y="84709"/>
                  </a:lnTo>
                  <a:close/>
                  <a:moveTo>
                    <a:pt x="4741418" y="84709"/>
                  </a:moveTo>
                  <a:lnTo>
                    <a:pt x="4995418" y="84709"/>
                  </a:lnTo>
                  <a:lnTo>
                    <a:pt x="4741418" y="84709"/>
                  </a:lnTo>
                  <a:close/>
                  <a:moveTo>
                    <a:pt x="5334127" y="84709"/>
                  </a:moveTo>
                  <a:lnTo>
                    <a:pt x="5588127" y="84709"/>
                  </a:lnTo>
                  <a:lnTo>
                    <a:pt x="5334127" y="84709"/>
                  </a:lnTo>
                  <a:close/>
                  <a:moveTo>
                    <a:pt x="5926709" y="0"/>
                  </a:moveTo>
                  <a:lnTo>
                    <a:pt x="6180709" y="0"/>
                  </a:lnTo>
                  <a:lnTo>
                    <a:pt x="6180709" y="84709"/>
                  </a:lnTo>
                  <a:lnTo>
                    <a:pt x="5926709" y="84709"/>
                  </a:lnTo>
                  <a:close/>
                  <a:moveTo>
                    <a:pt x="6519418" y="84709"/>
                  </a:moveTo>
                  <a:lnTo>
                    <a:pt x="6773418" y="84709"/>
                  </a:lnTo>
                  <a:lnTo>
                    <a:pt x="6519418" y="84709"/>
                  </a:lnTo>
                  <a:close/>
                  <a:moveTo>
                    <a:pt x="7112127" y="84709"/>
                  </a:moveTo>
                  <a:lnTo>
                    <a:pt x="7366127" y="84709"/>
                  </a:lnTo>
                  <a:lnTo>
                    <a:pt x="7112127" y="84709"/>
                  </a:lnTo>
                  <a:close/>
                  <a:moveTo>
                    <a:pt x="7704709" y="0"/>
                  </a:moveTo>
                  <a:lnTo>
                    <a:pt x="7958709" y="0"/>
                  </a:lnTo>
                  <a:lnTo>
                    <a:pt x="7958709" y="84709"/>
                  </a:lnTo>
                  <a:lnTo>
                    <a:pt x="7704709" y="84709"/>
                  </a:lnTo>
                  <a:close/>
                  <a:moveTo>
                    <a:pt x="8297418" y="84709"/>
                  </a:moveTo>
                  <a:lnTo>
                    <a:pt x="8551418" y="84709"/>
                  </a:lnTo>
                  <a:lnTo>
                    <a:pt x="8297418" y="84709"/>
                  </a:lnTo>
                  <a:close/>
                  <a:moveTo>
                    <a:pt x="8890127" y="84709"/>
                  </a:moveTo>
                  <a:lnTo>
                    <a:pt x="9144127" y="84709"/>
                  </a:lnTo>
                  <a:lnTo>
                    <a:pt x="8890127" y="84709"/>
                  </a:lnTo>
                  <a:close/>
                  <a:moveTo>
                    <a:pt x="9482709" y="0"/>
                  </a:moveTo>
                  <a:lnTo>
                    <a:pt x="9736709" y="0"/>
                  </a:lnTo>
                  <a:lnTo>
                    <a:pt x="9736709" y="84709"/>
                  </a:lnTo>
                  <a:lnTo>
                    <a:pt x="9482709" y="84709"/>
                  </a:lnTo>
                  <a:close/>
                  <a:moveTo>
                    <a:pt x="10075418" y="84709"/>
                  </a:moveTo>
                  <a:lnTo>
                    <a:pt x="10329418" y="84709"/>
                  </a:lnTo>
                  <a:lnTo>
                    <a:pt x="10075418" y="84709"/>
                  </a:lnTo>
                  <a:close/>
                  <a:moveTo>
                    <a:pt x="10668127" y="84709"/>
                  </a:moveTo>
                  <a:lnTo>
                    <a:pt x="10922127" y="84709"/>
                  </a:lnTo>
                  <a:lnTo>
                    <a:pt x="10668127" y="84709"/>
                  </a:lnTo>
                  <a:close/>
                  <a:moveTo>
                    <a:pt x="11260709" y="0"/>
                  </a:moveTo>
                  <a:lnTo>
                    <a:pt x="11514709" y="0"/>
                  </a:lnTo>
                  <a:lnTo>
                    <a:pt x="11514709" y="84709"/>
                  </a:lnTo>
                  <a:lnTo>
                    <a:pt x="11260709" y="84709"/>
                  </a:lnTo>
                  <a:close/>
                  <a:moveTo>
                    <a:pt x="11853418" y="84709"/>
                  </a:moveTo>
                  <a:lnTo>
                    <a:pt x="12107418" y="84709"/>
                  </a:lnTo>
                  <a:lnTo>
                    <a:pt x="11853418" y="84709"/>
                  </a:lnTo>
                  <a:close/>
                  <a:moveTo>
                    <a:pt x="12446127" y="84709"/>
                  </a:moveTo>
                  <a:lnTo>
                    <a:pt x="12700127" y="84709"/>
                  </a:lnTo>
                  <a:lnTo>
                    <a:pt x="12446127" y="84709"/>
                  </a:lnTo>
                  <a:close/>
                  <a:moveTo>
                    <a:pt x="13038709" y="0"/>
                  </a:moveTo>
                  <a:lnTo>
                    <a:pt x="13292709" y="0"/>
                  </a:lnTo>
                  <a:lnTo>
                    <a:pt x="13292709" y="84709"/>
                  </a:lnTo>
                  <a:lnTo>
                    <a:pt x="13038709" y="84709"/>
                  </a:lnTo>
                  <a:close/>
                  <a:moveTo>
                    <a:pt x="13631419" y="84709"/>
                  </a:moveTo>
                  <a:lnTo>
                    <a:pt x="13885419" y="84709"/>
                  </a:lnTo>
                  <a:lnTo>
                    <a:pt x="13631419" y="84709"/>
                  </a:lnTo>
                  <a:close/>
                  <a:moveTo>
                    <a:pt x="14224127" y="84709"/>
                  </a:moveTo>
                  <a:lnTo>
                    <a:pt x="14478127" y="84709"/>
                  </a:lnTo>
                  <a:lnTo>
                    <a:pt x="14224127" y="84709"/>
                  </a:lnTo>
                  <a:close/>
                  <a:moveTo>
                    <a:pt x="14816709" y="0"/>
                  </a:moveTo>
                  <a:lnTo>
                    <a:pt x="15070709" y="0"/>
                  </a:lnTo>
                  <a:lnTo>
                    <a:pt x="15070709" y="84709"/>
                  </a:lnTo>
                  <a:lnTo>
                    <a:pt x="14816709" y="84709"/>
                  </a:lnTo>
                  <a:close/>
                  <a:moveTo>
                    <a:pt x="15409419" y="84709"/>
                  </a:moveTo>
                  <a:lnTo>
                    <a:pt x="15663419" y="84709"/>
                  </a:lnTo>
                  <a:lnTo>
                    <a:pt x="15409419" y="84709"/>
                  </a:lnTo>
                  <a:close/>
                  <a:moveTo>
                    <a:pt x="16002127" y="84709"/>
                  </a:moveTo>
                  <a:lnTo>
                    <a:pt x="16256127" y="84709"/>
                  </a:lnTo>
                  <a:lnTo>
                    <a:pt x="16002127" y="84709"/>
                  </a:lnTo>
                  <a:close/>
                  <a:moveTo>
                    <a:pt x="16594709" y="0"/>
                  </a:moveTo>
                  <a:lnTo>
                    <a:pt x="16848709" y="0"/>
                  </a:lnTo>
                  <a:lnTo>
                    <a:pt x="16848709" y="84709"/>
                  </a:lnTo>
                  <a:lnTo>
                    <a:pt x="16594709" y="84709"/>
                  </a:lnTo>
                  <a:close/>
                  <a:moveTo>
                    <a:pt x="17187419" y="84709"/>
                  </a:moveTo>
                  <a:lnTo>
                    <a:pt x="17441419" y="84709"/>
                  </a:lnTo>
                  <a:lnTo>
                    <a:pt x="17187419" y="84709"/>
                  </a:lnTo>
                  <a:close/>
                  <a:moveTo>
                    <a:pt x="17780127" y="84709"/>
                  </a:moveTo>
                  <a:lnTo>
                    <a:pt x="18034127" y="84709"/>
                  </a:lnTo>
                  <a:lnTo>
                    <a:pt x="17780127" y="84709"/>
                  </a:lnTo>
                  <a:close/>
                  <a:moveTo>
                    <a:pt x="18372709" y="0"/>
                  </a:moveTo>
                  <a:lnTo>
                    <a:pt x="18626709" y="0"/>
                  </a:lnTo>
                  <a:lnTo>
                    <a:pt x="18626709" y="84709"/>
                  </a:lnTo>
                  <a:lnTo>
                    <a:pt x="18372709" y="84709"/>
                  </a:lnTo>
                  <a:close/>
                  <a:moveTo>
                    <a:pt x="18965419" y="84709"/>
                  </a:moveTo>
                  <a:lnTo>
                    <a:pt x="19219419" y="84709"/>
                  </a:lnTo>
                  <a:lnTo>
                    <a:pt x="18965419" y="84709"/>
                  </a:lnTo>
                  <a:close/>
                  <a:moveTo>
                    <a:pt x="19558127" y="84709"/>
                  </a:moveTo>
                  <a:lnTo>
                    <a:pt x="19812127" y="84709"/>
                  </a:lnTo>
                  <a:lnTo>
                    <a:pt x="19558127" y="84709"/>
                  </a:lnTo>
                  <a:close/>
                  <a:moveTo>
                    <a:pt x="0" y="0"/>
                  </a:moveTo>
                  <a:lnTo>
                    <a:pt x="254000" y="0"/>
                  </a:lnTo>
                  <a:lnTo>
                    <a:pt x="2540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4480" y="3108960"/>
            <a:ext cx="1645920" cy="1645920"/>
            <a:chOff x="0" y="0"/>
            <a:chExt cx="219456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5A97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3474720"/>
            <a:ext cx="914400" cy="914400"/>
            <a:chOff x="0" y="0"/>
            <a:chExt cx="1219200" cy="12192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3990" y="2998470"/>
            <a:ext cx="678180" cy="678180"/>
            <a:chOff x="0" y="0"/>
            <a:chExt cx="904240" cy="904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3040" y="3017520"/>
            <a:ext cx="640080" cy="640080"/>
            <a:chOff x="0" y="0"/>
            <a:chExt cx="8534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029200"/>
            <a:ext cx="3200400" cy="548640"/>
            <a:chOff x="0" y="0"/>
            <a:chExt cx="4267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Plan &amp; Shop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577840"/>
            <a:ext cx="3200400" cy="1124178"/>
            <a:chOff x="0" y="0"/>
            <a:chExt cx="4267200" cy="14989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7200" cy="1498905"/>
            </a:xfrm>
            <a:custGeom>
              <a:avLst/>
              <a:gdLst/>
              <a:ahLst/>
              <a:cxnLst/>
              <a:rect r="r" b="b" t="t" l="l"/>
              <a:pathLst>
                <a:path h="149890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98905"/>
                  </a:lnTo>
                  <a:lnTo>
                    <a:pt x="0" y="149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7" r="0" b="-4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267200" cy="152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Shops with a loose plan, driven by kids’ preferences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20640" y="3108960"/>
            <a:ext cx="1645920" cy="1645920"/>
            <a:chOff x="0" y="0"/>
            <a:chExt cx="219456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5A976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86400" y="3474720"/>
            <a:ext cx="914400" cy="914400"/>
            <a:chOff x="0" y="0"/>
            <a:chExt cx="1219200" cy="1219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10150" y="2998470"/>
            <a:ext cx="678180" cy="678180"/>
            <a:chOff x="0" y="0"/>
            <a:chExt cx="904240" cy="904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029200" y="3017520"/>
            <a:ext cx="640080" cy="640080"/>
            <a:chOff x="0" y="0"/>
            <a:chExt cx="8534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389120" y="5029200"/>
            <a:ext cx="3200400" cy="548640"/>
            <a:chOff x="0" y="0"/>
            <a:chExt cx="42672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Bring Home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389120" y="5577840"/>
            <a:ext cx="3200400" cy="1124178"/>
            <a:chOff x="0" y="0"/>
            <a:chExt cx="4267200" cy="14989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0" cy="1498905"/>
            </a:xfrm>
            <a:custGeom>
              <a:avLst/>
              <a:gdLst/>
              <a:ahLst/>
              <a:cxnLst/>
              <a:rect r="r" b="b" t="t" l="l"/>
              <a:pathLst>
                <a:path h="149890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98905"/>
                  </a:lnTo>
                  <a:lnTo>
                    <a:pt x="0" y="149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7" r="0" b="-427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267200" cy="152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Adds items to an overcrowded fridge with unknown timelines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686800" y="3108960"/>
            <a:ext cx="1645920" cy="1645920"/>
            <a:chOff x="0" y="0"/>
            <a:chExt cx="219456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5A976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052560" y="3474720"/>
            <a:ext cx="914400" cy="914400"/>
            <a:chOff x="0" y="0"/>
            <a:chExt cx="1219200" cy="12192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76310" y="2998470"/>
            <a:ext cx="678180" cy="678180"/>
            <a:chOff x="0" y="0"/>
            <a:chExt cx="904240" cy="904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595360" y="3017520"/>
            <a:ext cx="640080" cy="640080"/>
            <a:chOff x="0" y="0"/>
            <a:chExt cx="85344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55280" y="5029200"/>
            <a:ext cx="3200400" cy="548640"/>
            <a:chOff x="0" y="0"/>
            <a:chExt cx="42672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The Week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955280" y="5577840"/>
            <a:ext cx="3200400" cy="1097280"/>
            <a:chOff x="0" y="0"/>
            <a:chExt cx="426720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267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Life gets busy — work,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kids, errands pile up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52960" y="3108960"/>
            <a:ext cx="1645920" cy="1645920"/>
            <a:chOff x="0" y="0"/>
            <a:chExt cx="219456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618720" y="3474720"/>
            <a:ext cx="914400" cy="914400"/>
            <a:chOff x="0" y="0"/>
            <a:chExt cx="1219200" cy="12192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142470" y="2998470"/>
            <a:ext cx="678180" cy="678180"/>
            <a:chOff x="0" y="0"/>
            <a:chExt cx="904240" cy="904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161520" y="3017520"/>
            <a:ext cx="640080" cy="640080"/>
            <a:chOff x="0" y="0"/>
            <a:chExt cx="8534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521440" y="5029200"/>
            <a:ext cx="3200400" cy="548640"/>
            <a:chOff x="0" y="0"/>
            <a:chExt cx="42672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Check Fridge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521440" y="5577840"/>
            <a:ext cx="3200400" cy="1097280"/>
            <a:chOff x="0" y="0"/>
            <a:chExt cx="4267200" cy="1463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267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Opens fridge, unsure what she has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5819120" y="3108960"/>
            <a:ext cx="1645920" cy="1645920"/>
            <a:chOff x="0" y="0"/>
            <a:chExt cx="2194560" cy="21945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184880" y="3474720"/>
            <a:ext cx="914400" cy="914400"/>
            <a:chOff x="0" y="0"/>
            <a:chExt cx="1219200" cy="1219200"/>
          </a:xfrm>
        </p:grpSpPr>
        <p:sp>
          <p:nvSpPr>
            <p:cNvPr name="Freeform 77" id="77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5708630" y="2998470"/>
            <a:ext cx="678180" cy="678180"/>
            <a:chOff x="0" y="0"/>
            <a:chExt cx="904240" cy="9042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727680" y="3017520"/>
            <a:ext cx="640080" cy="640080"/>
            <a:chOff x="0" y="0"/>
            <a:chExt cx="85344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5087600" y="5029200"/>
            <a:ext cx="3200400" cy="548640"/>
            <a:chOff x="0" y="0"/>
            <a:chExt cx="4267200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Toss &amp; Repeat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087600" y="5577840"/>
            <a:ext cx="3200400" cy="1457553"/>
            <a:chOff x="0" y="0"/>
            <a:chExt cx="4267200" cy="194340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267200" cy="1943405"/>
            </a:xfrm>
            <a:custGeom>
              <a:avLst/>
              <a:gdLst/>
              <a:ahLst/>
              <a:cxnLst/>
              <a:rect r="r" b="b" t="t" l="l"/>
              <a:pathLst>
                <a:path h="194340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3405"/>
                  </a:lnTo>
                  <a:lnTo>
                    <a:pt x="0" y="1943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42" r="0" b="1957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4267200" cy="1971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Throws out expired food, feels guilty, and the cycle repeats</a:t>
              </a:r>
            </a:p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14400" y="8961120"/>
            <a:ext cx="16459200" cy="944116"/>
            <a:chOff x="0" y="0"/>
            <a:chExt cx="21945600" cy="125882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1945600" cy="1258821"/>
            </a:xfrm>
            <a:custGeom>
              <a:avLst/>
              <a:gdLst/>
              <a:ahLst/>
              <a:cxnLst/>
              <a:rect r="r" b="b" t="t" l="l"/>
              <a:pathLst>
                <a:path h="125882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58821"/>
                  </a:lnTo>
                  <a:lnTo>
                    <a:pt x="0" y="125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950" r="0" b="-27843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1945600" cy="1268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5F0E1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"I'll forget about having a food item, so it might be hidden in the fridge, and I just don't see it."</a:t>
              </a:r>
            </a:p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5F0E1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-User Interview 1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9144000" cy="1253592"/>
            <a:chOff x="0" y="0"/>
            <a:chExt cx="12192000" cy="1671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671456"/>
            </a:xfrm>
            <a:custGeom>
              <a:avLst/>
              <a:gdLst/>
              <a:ahLst/>
              <a:cxnLst/>
              <a:rect r="r" b="b" t="t" l="l"/>
              <a:pathLst>
                <a:path h="1671456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671456"/>
                  </a:lnTo>
                  <a:lnTo>
                    <a:pt x="0" y="1671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363" r="0" b="-8589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12192000" cy="1861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Customer Journey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16736"/>
            <a:ext cx="12801600" cy="640080"/>
            <a:chOff x="0" y="0"/>
            <a:chExt cx="170688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068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97BC62"/>
                  </a:solidFill>
                  <a:latin typeface="Telegraf"/>
                  <a:ea typeface="Telegraf"/>
                  <a:cs typeface="Telegraf"/>
                  <a:sym typeface="Telegraf"/>
                </a:rPr>
                <a:t>The current food lifecycle for families like Jessica’s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97053" y="3900173"/>
            <a:ext cx="15059663" cy="63503"/>
            <a:chOff x="0" y="0"/>
            <a:chExt cx="20079551" cy="84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2291" y="0"/>
              <a:ext cx="19812127" cy="84709"/>
            </a:xfrm>
            <a:custGeom>
              <a:avLst/>
              <a:gdLst/>
              <a:ahLst/>
              <a:cxnLst/>
              <a:rect r="r" b="b" t="t" l="l"/>
              <a:pathLst>
                <a:path h="84709" w="19812127">
                  <a:moveTo>
                    <a:pt x="592709" y="0"/>
                  </a:moveTo>
                  <a:lnTo>
                    <a:pt x="846709" y="0"/>
                  </a:lnTo>
                  <a:lnTo>
                    <a:pt x="846709" y="84709"/>
                  </a:lnTo>
                  <a:lnTo>
                    <a:pt x="592709" y="84709"/>
                  </a:lnTo>
                  <a:close/>
                  <a:moveTo>
                    <a:pt x="1185418" y="0"/>
                  </a:moveTo>
                  <a:lnTo>
                    <a:pt x="1439418" y="0"/>
                  </a:lnTo>
                  <a:lnTo>
                    <a:pt x="1439418" y="84709"/>
                  </a:lnTo>
                  <a:lnTo>
                    <a:pt x="1185418" y="84709"/>
                  </a:lnTo>
                  <a:close/>
                  <a:moveTo>
                    <a:pt x="1778127" y="84709"/>
                  </a:moveTo>
                  <a:lnTo>
                    <a:pt x="2032127" y="84709"/>
                  </a:lnTo>
                  <a:lnTo>
                    <a:pt x="1778127" y="84709"/>
                  </a:lnTo>
                  <a:close/>
                  <a:moveTo>
                    <a:pt x="2370709" y="0"/>
                  </a:moveTo>
                  <a:lnTo>
                    <a:pt x="2624709" y="0"/>
                  </a:lnTo>
                  <a:lnTo>
                    <a:pt x="2624709" y="84709"/>
                  </a:lnTo>
                  <a:lnTo>
                    <a:pt x="2370709" y="84709"/>
                  </a:lnTo>
                  <a:close/>
                  <a:moveTo>
                    <a:pt x="2963418" y="84709"/>
                  </a:moveTo>
                  <a:lnTo>
                    <a:pt x="3217418" y="84709"/>
                  </a:lnTo>
                  <a:lnTo>
                    <a:pt x="2963418" y="84709"/>
                  </a:lnTo>
                  <a:close/>
                  <a:moveTo>
                    <a:pt x="3556127" y="84709"/>
                  </a:moveTo>
                  <a:lnTo>
                    <a:pt x="3810127" y="84709"/>
                  </a:lnTo>
                  <a:lnTo>
                    <a:pt x="3556127" y="84709"/>
                  </a:lnTo>
                  <a:close/>
                  <a:moveTo>
                    <a:pt x="4148709" y="0"/>
                  </a:moveTo>
                  <a:lnTo>
                    <a:pt x="4402709" y="0"/>
                  </a:lnTo>
                  <a:lnTo>
                    <a:pt x="4402709" y="84709"/>
                  </a:lnTo>
                  <a:lnTo>
                    <a:pt x="4148709" y="84709"/>
                  </a:lnTo>
                  <a:close/>
                  <a:moveTo>
                    <a:pt x="4741418" y="84709"/>
                  </a:moveTo>
                  <a:lnTo>
                    <a:pt x="4995418" y="84709"/>
                  </a:lnTo>
                  <a:lnTo>
                    <a:pt x="4741418" y="84709"/>
                  </a:lnTo>
                  <a:close/>
                  <a:moveTo>
                    <a:pt x="5334127" y="84709"/>
                  </a:moveTo>
                  <a:lnTo>
                    <a:pt x="5588127" y="84709"/>
                  </a:lnTo>
                  <a:lnTo>
                    <a:pt x="5334127" y="84709"/>
                  </a:lnTo>
                  <a:close/>
                  <a:moveTo>
                    <a:pt x="5926709" y="0"/>
                  </a:moveTo>
                  <a:lnTo>
                    <a:pt x="6180709" y="0"/>
                  </a:lnTo>
                  <a:lnTo>
                    <a:pt x="6180709" y="84709"/>
                  </a:lnTo>
                  <a:lnTo>
                    <a:pt x="5926709" y="84709"/>
                  </a:lnTo>
                  <a:close/>
                  <a:moveTo>
                    <a:pt x="6519418" y="84709"/>
                  </a:moveTo>
                  <a:lnTo>
                    <a:pt x="6773418" y="84709"/>
                  </a:lnTo>
                  <a:lnTo>
                    <a:pt x="6519418" y="84709"/>
                  </a:lnTo>
                  <a:close/>
                  <a:moveTo>
                    <a:pt x="7112127" y="84709"/>
                  </a:moveTo>
                  <a:lnTo>
                    <a:pt x="7366127" y="84709"/>
                  </a:lnTo>
                  <a:lnTo>
                    <a:pt x="7112127" y="84709"/>
                  </a:lnTo>
                  <a:close/>
                  <a:moveTo>
                    <a:pt x="7704709" y="0"/>
                  </a:moveTo>
                  <a:lnTo>
                    <a:pt x="7958709" y="0"/>
                  </a:lnTo>
                  <a:lnTo>
                    <a:pt x="7958709" y="84709"/>
                  </a:lnTo>
                  <a:lnTo>
                    <a:pt x="7704709" y="84709"/>
                  </a:lnTo>
                  <a:close/>
                  <a:moveTo>
                    <a:pt x="8297418" y="84709"/>
                  </a:moveTo>
                  <a:lnTo>
                    <a:pt x="8551418" y="84709"/>
                  </a:lnTo>
                  <a:lnTo>
                    <a:pt x="8297418" y="84709"/>
                  </a:lnTo>
                  <a:close/>
                  <a:moveTo>
                    <a:pt x="8890127" y="84709"/>
                  </a:moveTo>
                  <a:lnTo>
                    <a:pt x="9144127" y="84709"/>
                  </a:lnTo>
                  <a:lnTo>
                    <a:pt x="8890127" y="84709"/>
                  </a:lnTo>
                  <a:close/>
                  <a:moveTo>
                    <a:pt x="9482709" y="0"/>
                  </a:moveTo>
                  <a:lnTo>
                    <a:pt x="9736709" y="0"/>
                  </a:lnTo>
                  <a:lnTo>
                    <a:pt x="9736709" y="84709"/>
                  </a:lnTo>
                  <a:lnTo>
                    <a:pt x="9482709" y="84709"/>
                  </a:lnTo>
                  <a:close/>
                  <a:moveTo>
                    <a:pt x="10075418" y="84709"/>
                  </a:moveTo>
                  <a:lnTo>
                    <a:pt x="10329418" y="84709"/>
                  </a:lnTo>
                  <a:lnTo>
                    <a:pt x="10075418" y="84709"/>
                  </a:lnTo>
                  <a:close/>
                  <a:moveTo>
                    <a:pt x="10668127" y="84709"/>
                  </a:moveTo>
                  <a:lnTo>
                    <a:pt x="10922127" y="84709"/>
                  </a:lnTo>
                  <a:lnTo>
                    <a:pt x="10668127" y="84709"/>
                  </a:lnTo>
                  <a:close/>
                  <a:moveTo>
                    <a:pt x="11260709" y="0"/>
                  </a:moveTo>
                  <a:lnTo>
                    <a:pt x="11514709" y="0"/>
                  </a:lnTo>
                  <a:lnTo>
                    <a:pt x="11514709" y="84709"/>
                  </a:lnTo>
                  <a:lnTo>
                    <a:pt x="11260709" y="84709"/>
                  </a:lnTo>
                  <a:close/>
                  <a:moveTo>
                    <a:pt x="11853418" y="84709"/>
                  </a:moveTo>
                  <a:lnTo>
                    <a:pt x="12107418" y="84709"/>
                  </a:lnTo>
                  <a:lnTo>
                    <a:pt x="11853418" y="84709"/>
                  </a:lnTo>
                  <a:close/>
                  <a:moveTo>
                    <a:pt x="12446127" y="84709"/>
                  </a:moveTo>
                  <a:lnTo>
                    <a:pt x="12700127" y="84709"/>
                  </a:lnTo>
                  <a:lnTo>
                    <a:pt x="12446127" y="84709"/>
                  </a:lnTo>
                  <a:close/>
                  <a:moveTo>
                    <a:pt x="13038709" y="0"/>
                  </a:moveTo>
                  <a:lnTo>
                    <a:pt x="13292709" y="0"/>
                  </a:lnTo>
                  <a:lnTo>
                    <a:pt x="13292709" y="84709"/>
                  </a:lnTo>
                  <a:lnTo>
                    <a:pt x="13038709" y="84709"/>
                  </a:lnTo>
                  <a:close/>
                  <a:moveTo>
                    <a:pt x="13631419" y="84709"/>
                  </a:moveTo>
                  <a:lnTo>
                    <a:pt x="13885419" y="84709"/>
                  </a:lnTo>
                  <a:lnTo>
                    <a:pt x="13631419" y="84709"/>
                  </a:lnTo>
                  <a:close/>
                  <a:moveTo>
                    <a:pt x="14224127" y="84709"/>
                  </a:moveTo>
                  <a:lnTo>
                    <a:pt x="14478127" y="84709"/>
                  </a:lnTo>
                  <a:lnTo>
                    <a:pt x="14224127" y="84709"/>
                  </a:lnTo>
                  <a:close/>
                  <a:moveTo>
                    <a:pt x="14816709" y="0"/>
                  </a:moveTo>
                  <a:lnTo>
                    <a:pt x="15070709" y="0"/>
                  </a:lnTo>
                  <a:lnTo>
                    <a:pt x="15070709" y="84709"/>
                  </a:lnTo>
                  <a:lnTo>
                    <a:pt x="14816709" y="84709"/>
                  </a:lnTo>
                  <a:close/>
                  <a:moveTo>
                    <a:pt x="15409419" y="84709"/>
                  </a:moveTo>
                  <a:lnTo>
                    <a:pt x="15663419" y="84709"/>
                  </a:lnTo>
                  <a:lnTo>
                    <a:pt x="15409419" y="84709"/>
                  </a:lnTo>
                  <a:close/>
                  <a:moveTo>
                    <a:pt x="16002127" y="84709"/>
                  </a:moveTo>
                  <a:lnTo>
                    <a:pt x="16256127" y="84709"/>
                  </a:lnTo>
                  <a:lnTo>
                    <a:pt x="16002127" y="84709"/>
                  </a:lnTo>
                  <a:close/>
                  <a:moveTo>
                    <a:pt x="16594709" y="0"/>
                  </a:moveTo>
                  <a:lnTo>
                    <a:pt x="16848709" y="0"/>
                  </a:lnTo>
                  <a:lnTo>
                    <a:pt x="16848709" y="84709"/>
                  </a:lnTo>
                  <a:lnTo>
                    <a:pt x="16594709" y="84709"/>
                  </a:lnTo>
                  <a:close/>
                  <a:moveTo>
                    <a:pt x="17187419" y="84709"/>
                  </a:moveTo>
                  <a:lnTo>
                    <a:pt x="17441419" y="84709"/>
                  </a:lnTo>
                  <a:lnTo>
                    <a:pt x="17187419" y="84709"/>
                  </a:lnTo>
                  <a:close/>
                  <a:moveTo>
                    <a:pt x="17780127" y="84709"/>
                  </a:moveTo>
                  <a:lnTo>
                    <a:pt x="18034127" y="84709"/>
                  </a:lnTo>
                  <a:lnTo>
                    <a:pt x="17780127" y="84709"/>
                  </a:lnTo>
                  <a:close/>
                  <a:moveTo>
                    <a:pt x="18372709" y="0"/>
                  </a:moveTo>
                  <a:lnTo>
                    <a:pt x="18626709" y="0"/>
                  </a:lnTo>
                  <a:lnTo>
                    <a:pt x="18626709" y="84709"/>
                  </a:lnTo>
                  <a:lnTo>
                    <a:pt x="18372709" y="84709"/>
                  </a:lnTo>
                  <a:close/>
                  <a:moveTo>
                    <a:pt x="18965419" y="84709"/>
                  </a:moveTo>
                  <a:lnTo>
                    <a:pt x="19219419" y="84709"/>
                  </a:lnTo>
                  <a:lnTo>
                    <a:pt x="18965419" y="84709"/>
                  </a:lnTo>
                  <a:close/>
                  <a:moveTo>
                    <a:pt x="19558127" y="84709"/>
                  </a:moveTo>
                  <a:lnTo>
                    <a:pt x="19812127" y="84709"/>
                  </a:lnTo>
                  <a:lnTo>
                    <a:pt x="19558127" y="84709"/>
                  </a:lnTo>
                  <a:close/>
                  <a:moveTo>
                    <a:pt x="0" y="0"/>
                  </a:moveTo>
                  <a:lnTo>
                    <a:pt x="254000" y="0"/>
                  </a:lnTo>
                  <a:lnTo>
                    <a:pt x="254000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54480" y="3108960"/>
            <a:ext cx="1645920" cy="1645920"/>
            <a:chOff x="0" y="0"/>
            <a:chExt cx="219456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5A97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20240" y="3474720"/>
            <a:ext cx="914400" cy="914400"/>
            <a:chOff x="0" y="0"/>
            <a:chExt cx="1219200" cy="12192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3990" y="2998470"/>
            <a:ext cx="678180" cy="678180"/>
            <a:chOff x="0" y="0"/>
            <a:chExt cx="904240" cy="904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3040" y="3017520"/>
            <a:ext cx="640080" cy="640080"/>
            <a:chOff x="0" y="0"/>
            <a:chExt cx="8534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5029200"/>
            <a:ext cx="3200400" cy="548640"/>
            <a:chOff x="0" y="0"/>
            <a:chExt cx="4267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Plan &amp; Shop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577840"/>
            <a:ext cx="3200400" cy="1124178"/>
            <a:chOff x="0" y="0"/>
            <a:chExt cx="4267200" cy="14989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7200" cy="1498905"/>
            </a:xfrm>
            <a:custGeom>
              <a:avLst/>
              <a:gdLst/>
              <a:ahLst/>
              <a:cxnLst/>
              <a:rect r="r" b="b" t="t" l="l"/>
              <a:pathLst>
                <a:path h="149890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98905"/>
                  </a:lnTo>
                  <a:lnTo>
                    <a:pt x="0" y="149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7" r="0" b="-42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267200" cy="152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Shops with a loose plan, driven by kids’ preferences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20640" y="3108960"/>
            <a:ext cx="1645920" cy="1645920"/>
            <a:chOff x="0" y="0"/>
            <a:chExt cx="219456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5A976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86400" y="3474720"/>
            <a:ext cx="914400" cy="914400"/>
            <a:chOff x="0" y="0"/>
            <a:chExt cx="1219200" cy="1219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010150" y="2998470"/>
            <a:ext cx="678180" cy="678180"/>
            <a:chOff x="0" y="0"/>
            <a:chExt cx="904240" cy="904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029200" y="3017520"/>
            <a:ext cx="640080" cy="640080"/>
            <a:chOff x="0" y="0"/>
            <a:chExt cx="8534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389120" y="5029200"/>
            <a:ext cx="3200400" cy="548640"/>
            <a:chOff x="0" y="0"/>
            <a:chExt cx="42672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Bring Home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389120" y="5577840"/>
            <a:ext cx="3200400" cy="1124178"/>
            <a:chOff x="0" y="0"/>
            <a:chExt cx="4267200" cy="14989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0" cy="1498905"/>
            </a:xfrm>
            <a:custGeom>
              <a:avLst/>
              <a:gdLst/>
              <a:ahLst/>
              <a:cxnLst/>
              <a:rect r="r" b="b" t="t" l="l"/>
              <a:pathLst>
                <a:path h="149890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98905"/>
                  </a:lnTo>
                  <a:lnTo>
                    <a:pt x="0" y="149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7" r="0" b="-427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4267200" cy="152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Adds items to an overcrowded fridge with unknown timelines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686800" y="3108960"/>
            <a:ext cx="1645920" cy="1645920"/>
            <a:chOff x="0" y="0"/>
            <a:chExt cx="219456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5A976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052560" y="3474720"/>
            <a:ext cx="914400" cy="914400"/>
            <a:chOff x="0" y="0"/>
            <a:chExt cx="1219200" cy="12192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76310" y="2998470"/>
            <a:ext cx="678180" cy="678180"/>
            <a:chOff x="0" y="0"/>
            <a:chExt cx="904240" cy="904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595360" y="3017520"/>
            <a:ext cx="640080" cy="640080"/>
            <a:chOff x="0" y="0"/>
            <a:chExt cx="85344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55280" y="5029200"/>
            <a:ext cx="3200400" cy="548640"/>
            <a:chOff x="0" y="0"/>
            <a:chExt cx="42672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The Week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955280" y="5577840"/>
            <a:ext cx="3200400" cy="1097280"/>
            <a:chOff x="0" y="0"/>
            <a:chExt cx="426720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4267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Life gets busy — work,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kids, errands pile up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52960" y="3108960"/>
            <a:ext cx="1645920" cy="1645920"/>
            <a:chOff x="0" y="0"/>
            <a:chExt cx="219456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618720" y="3474720"/>
            <a:ext cx="914400" cy="914400"/>
            <a:chOff x="0" y="0"/>
            <a:chExt cx="1219200" cy="12192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142470" y="2998470"/>
            <a:ext cx="678180" cy="678180"/>
            <a:chOff x="0" y="0"/>
            <a:chExt cx="904240" cy="904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161520" y="3017520"/>
            <a:ext cx="640080" cy="640080"/>
            <a:chOff x="0" y="0"/>
            <a:chExt cx="8534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521440" y="5029200"/>
            <a:ext cx="3200400" cy="548640"/>
            <a:chOff x="0" y="0"/>
            <a:chExt cx="426720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Check Fridge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5819120" y="3108960"/>
            <a:ext cx="1645920" cy="1645920"/>
            <a:chOff x="0" y="0"/>
            <a:chExt cx="2194560" cy="21945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1097280"/>
                  </a:moveTo>
                  <a:cubicBezTo>
                    <a:pt x="0" y="491236"/>
                    <a:pt x="491236" y="0"/>
                    <a:pt x="1097280" y="0"/>
                  </a:cubicBezTo>
                  <a:cubicBezTo>
                    <a:pt x="1703324" y="0"/>
                    <a:pt x="2194560" y="491236"/>
                    <a:pt x="2194560" y="1097280"/>
                  </a:cubicBezTo>
                  <a:cubicBezTo>
                    <a:pt x="2194560" y="1703324"/>
                    <a:pt x="1703324" y="2194560"/>
                    <a:pt x="1097280" y="2194560"/>
                  </a:cubicBezTo>
                  <a:cubicBezTo>
                    <a:pt x="491236" y="2194560"/>
                    <a:pt x="0" y="1703324"/>
                    <a:pt x="0" y="1097280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6184880" y="3474720"/>
            <a:ext cx="914400" cy="914400"/>
            <a:chOff x="0" y="0"/>
            <a:chExt cx="1219200" cy="1219200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5708630" y="2998470"/>
            <a:ext cx="678180" cy="678180"/>
            <a:chOff x="0" y="0"/>
            <a:chExt cx="904240" cy="904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25400" y="2540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1B3A2D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04240" cy="904240"/>
            </a:xfrm>
            <a:custGeom>
              <a:avLst/>
              <a:gdLst/>
              <a:ahLst/>
              <a:cxnLst/>
              <a:rect r="r" b="b" t="t" l="l"/>
              <a:pathLst>
                <a:path h="904240" w="904240">
                  <a:moveTo>
                    <a:pt x="0" y="452120"/>
                  </a:moveTo>
                  <a:cubicBezTo>
                    <a:pt x="0" y="202438"/>
                    <a:pt x="202438" y="0"/>
                    <a:pt x="452120" y="0"/>
                  </a:cubicBezTo>
                  <a:lnTo>
                    <a:pt x="452120" y="25400"/>
                  </a:lnTo>
                  <a:lnTo>
                    <a:pt x="452120" y="0"/>
                  </a:lnTo>
                  <a:cubicBezTo>
                    <a:pt x="701802" y="0"/>
                    <a:pt x="904240" y="202438"/>
                    <a:pt x="904240" y="452120"/>
                  </a:cubicBezTo>
                  <a:cubicBezTo>
                    <a:pt x="904240" y="701802"/>
                    <a:pt x="701802" y="904240"/>
                    <a:pt x="452120" y="904240"/>
                  </a:cubicBezTo>
                  <a:lnTo>
                    <a:pt x="452120" y="878840"/>
                  </a:lnTo>
                  <a:lnTo>
                    <a:pt x="452120" y="904240"/>
                  </a:lnTo>
                  <a:cubicBezTo>
                    <a:pt x="202438" y="904240"/>
                    <a:pt x="0" y="701802"/>
                    <a:pt x="0" y="452120"/>
                  </a:cubicBezTo>
                  <a:lnTo>
                    <a:pt x="25400" y="452120"/>
                  </a:lnTo>
                  <a:lnTo>
                    <a:pt x="47244" y="465074"/>
                  </a:lnTo>
                  <a:cubicBezTo>
                    <a:pt x="41402" y="474853"/>
                    <a:pt x="29718" y="479679"/>
                    <a:pt x="18669" y="476631"/>
                  </a:cubicBezTo>
                  <a:cubicBezTo>
                    <a:pt x="7620" y="473583"/>
                    <a:pt x="0" y="463550"/>
                    <a:pt x="0" y="452120"/>
                  </a:cubicBezTo>
                  <a:moveTo>
                    <a:pt x="50800" y="452120"/>
                  </a:moveTo>
                  <a:lnTo>
                    <a:pt x="25400" y="452120"/>
                  </a:lnTo>
                  <a:lnTo>
                    <a:pt x="3556" y="439166"/>
                  </a:lnTo>
                  <a:cubicBezTo>
                    <a:pt x="9398" y="429387"/>
                    <a:pt x="21082" y="424561"/>
                    <a:pt x="32131" y="427609"/>
                  </a:cubicBezTo>
                  <a:cubicBezTo>
                    <a:pt x="43180" y="430657"/>
                    <a:pt x="50800" y="440690"/>
                    <a:pt x="50800" y="452120"/>
                  </a:cubicBezTo>
                  <a:cubicBezTo>
                    <a:pt x="50800" y="673735"/>
                    <a:pt x="230505" y="853440"/>
                    <a:pt x="452120" y="853440"/>
                  </a:cubicBezTo>
                  <a:cubicBezTo>
                    <a:pt x="673735" y="853440"/>
                    <a:pt x="853440" y="673735"/>
                    <a:pt x="853440" y="452120"/>
                  </a:cubicBezTo>
                  <a:lnTo>
                    <a:pt x="878840" y="452120"/>
                  </a:lnTo>
                  <a:lnTo>
                    <a:pt x="853440" y="452120"/>
                  </a:lnTo>
                  <a:cubicBezTo>
                    <a:pt x="853440" y="230505"/>
                    <a:pt x="673735" y="50800"/>
                    <a:pt x="452120" y="50800"/>
                  </a:cubicBezTo>
                  <a:lnTo>
                    <a:pt x="452120" y="25400"/>
                  </a:lnTo>
                  <a:lnTo>
                    <a:pt x="452120" y="50800"/>
                  </a:lnTo>
                  <a:cubicBezTo>
                    <a:pt x="230505" y="50800"/>
                    <a:pt x="50800" y="230505"/>
                    <a:pt x="50800" y="452120"/>
                  </a:cubicBezTo>
                  <a:close/>
                </a:path>
              </a:pathLst>
            </a:custGeom>
            <a:solidFill>
              <a:srgbClr val="97BC6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5727680" y="3017520"/>
            <a:ext cx="640080" cy="640080"/>
            <a:chOff x="0" y="0"/>
            <a:chExt cx="853440" cy="853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97BC62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087600" y="5029200"/>
            <a:ext cx="3200400" cy="548640"/>
            <a:chOff x="0" y="0"/>
            <a:chExt cx="426720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267200" cy="731520"/>
            </a:xfrm>
            <a:custGeom>
              <a:avLst/>
              <a:gdLst/>
              <a:ahLst/>
              <a:cxnLst/>
              <a:rect r="r" b="b" t="t" l="l"/>
              <a:pathLst>
                <a:path h="73152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4267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AF8F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Toss &amp; Repeat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5087600" y="5577840"/>
            <a:ext cx="3200400" cy="1124178"/>
            <a:chOff x="0" y="0"/>
            <a:chExt cx="4267200" cy="149890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67200" cy="1498905"/>
            </a:xfrm>
            <a:custGeom>
              <a:avLst/>
              <a:gdLst/>
              <a:ahLst/>
              <a:cxnLst/>
              <a:rect r="r" b="b" t="t" l="l"/>
              <a:pathLst>
                <a:path h="149890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98905"/>
                  </a:lnTo>
                  <a:lnTo>
                    <a:pt x="0" y="1498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67" r="0" b="-427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4267200" cy="152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Throws out expired food, feels guilty, and the cycle repeats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63830" y="6612570"/>
            <a:ext cx="4427220" cy="2824800"/>
            <a:chOff x="0" y="0"/>
            <a:chExt cx="5902960" cy="3766400"/>
          </a:xfrm>
        </p:grpSpPr>
        <p:grpSp>
          <p:nvGrpSpPr>
            <p:cNvPr name="Group 88" id="88"/>
            <p:cNvGrpSpPr/>
            <p:nvPr/>
          </p:nvGrpSpPr>
          <p:grpSpPr>
            <a:xfrm rot="-10800000">
              <a:off x="2664029" y="0"/>
              <a:ext cx="574903" cy="574903"/>
              <a:chOff x="0" y="0"/>
              <a:chExt cx="812800" cy="8128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E8732A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203200" y="-76200"/>
                <a:ext cx="40640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0" y="423760"/>
              <a:ext cx="5902960" cy="3342640"/>
              <a:chOff x="0" y="0"/>
              <a:chExt cx="5902960" cy="3342640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25400" y="25400"/>
                <a:ext cx="5852160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142E22"/>
              </a:solidFill>
            </p:spPr>
          </p:sp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5902960" cy="3342640"/>
              </a:xfrm>
              <a:custGeom>
                <a:avLst/>
                <a:gdLst/>
                <a:ahLst/>
                <a:cxnLst/>
                <a:rect r="r" b="b" t="t" l="l"/>
                <a:pathLst>
                  <a:path h="3342640" w="5902960">
                    <a:moveTo>
                      <a:pt x="25400" y="0"/>
                    </a:moveTo>
                    <a:lnTo>
                      <a:pt x="5877560" y="0"/>
                    </a:lnTo>
                    <a:cubicBezTo>
                      <a:pt x="5891530" y="0"/>
                      <a:pt x="5902960" y="11430"/>
                      <a:pt x="5902960" y="25400"/>
                    </a:cubicBezTo>
                    <a:lnTo>
                      <a:pt x="5902960" y="3317240"/>
                    </a:lnTo>
                    <a:cubicBezTo>
                      <a:pt x="5902960" y="3331210"/>
                      <a:pt x="5891530" y="3342640"/>
                      <a:pt x="5877560" y="3342640"/>
                    </a:cubicBezTo>
                    <a:lnTo>
                      <a:pt x="25400" y="3342640"/>
                    </a:lnTo>
                    <a:cubicBezTo>
                      <a:pt x="11430" y="3342640"/>
                      <a:pt x="0" y="3331210"/>
                      <a:pt x="0" y="331724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317240"/>
                    </a:lnTo>
                    <a:lnTo>
                      <a:pt x="25400" y="3317240"/>
                    </a:lnTo>
                    <a:lnTo>
                      <a:pt x="25400" y="3291840"/>
                    </a:lnTo>
                    <a:lnTo>
                      <a:pt x="5877560" y="3291840"/>
                    </a:lnTo>
                    <a:lnTo>
                      <a:pt x="5877560" y="3317240"/>
                    </a:lnTo>
                    <a:lnTo>
                      <a:pt x="5852160" y="3317240"/>
                    </a:lnTo>
                    <a:lnTo>
                      <a:pt x="5852160" y="25400"/>
                    </a:lnTo>
                    <a:lnTo>
                      <a:pt x="5877560" y="25400"/>
                    </a:lnTo>
                    <a:lnTo>
                      <a:pt x="58775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E8732A"/>
              </a:solidFill>
            </p:spPr>
          </p:sp>
        </p:grpSp>
      </p:grpSp>
      <p:grpSp>
        <p:nvGrpSpPr>
          <p:cNvPr name="Group 94" id="94"/>
          <p:cNvGrpSpPr/>
          <p:nvPr/>
        </p:nvGrpSpPr>
        <p:grpSpPr>
          <a:xfrm rot="0">
            <a:off x="182880" y="6949440"/>
            <a:ext cx="128016" cy="2468880"/>
            <a:chOff x="0" y="0"/>
            <a:chExt cx="170688" cy="32918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E8732A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12064" y="7095744"/>
            <a:ext cx="3840480" cy="548640"/>
            <a:chOff x="0" y="0"/>
            <a:chExt cx="5120640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76200"/>
              <a:ext cx="51206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732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Over-purchasing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12064" y="7613009"/>
            <a:ext cx="3840480" cy="1790928"/>
            <a:chOff x="0" y="0"/>
            <a:chExt cx="5120640" cy="238790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120640" cy="2387905"/>
            </a:xfrm>
            <a:custGeom>
              <a:avLst/>
              <a:gdLst/>
              <a:ahLst/>
              <a:cxnLst/>
              <a:rect r="r" b="b" t="t" l="l"/>
              <a:pathLst>
                <a:path h="2387905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387905"/>
                  </a:lnTo>
                  <a:lnTo>
                    <a:pt x="0" y="2387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2" t="0" r="-1932" b="1320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5120640" cy="2416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Buys 'just in case'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Swayed by bulk deals &amp; promotions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No visibility into current stock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1521440" y="5577840"/>
            <a:ext cx="3200400" cy="1097280"/>
            <a:chOff x="0" y="0"/>
            <a:chExt cx="4267200" cy="14630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26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42672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Opens fridge, unsure what she has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862310" y="6612570"/>
            <a:ext cx="4427220" cy="2824800"/>
            <a:chOff x="0" y="0"/>
            <a:chExt cx="5902960" cy="3766400"/>
          </a:xfrm>
        </p:grpSpPr>
        <p:grpSp>
          <p:nvGrpSpPr>
            <p:cNvPr name="Group 106" id="106"/>
            <p:cNvGrpSpPr/>
            <p:nvPr/>
          </p:nvGrpSpPr>
          <p:grpSpPr>
            <a:xfrm rot="-10800000">
              <a:off x="2737181" y="0"/>
              <a:ext cx="574903" cy="574903"/>
              <a:chOff x="0" y="0"/>
              <a:chExt cx="812800" cy="812800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203200" y="-76200"/>
                <a:ext cx="40640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0" y="423760"/>
              <a:ext cx="5902960" cy="3342640"/>
              <a:chOff x="0" y="0"/>
              <a:chExt cx="5902960" cy="3342640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25400" y="25400"/>
                <a:ext cx="5852160" cy="3291840"/>
              </a:xfrm>
              <a:custGeom>
                <a:avLst/>
                <a:gdLst/>
                <a:ahLst/>
                <a:cxnLst/>
                <a:rect r="r" b="b" t="t" l="l"/>
                <a:pathLst>
                  <a:path h="3291840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3291840"/>
                    </a:lnTo>
                    <a:lnTo>
                      <a:pt x="0" y="3291840"/>
                    </a:lnTo>
                    <a:close/>
                  </a:path>
                </a:pathLst>
              </a:custGeom>
              <a:solidFill>
                <a:srgbClr val="142E22"/>
              </a:solidFill>
            </p:spPr>
          </p:sp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5902960" cy="3342640"/>
              </a:xfrm>
              <a:custGeom>
                <a:avLst/>
                <a:gdLst/>
                <a:ahLst/>
                <a:cxnLst/>
                <a:rect r="r" b="b" t="t" l="l"/>
                <a:pathLst>
                  <a:path h="3342640" w="5902960">
                    <a:moveTo>
                      <a:pt x="25400" y="0"/>
                    </a:moveTo>
                    <a:lnTo>
                      <a:pt x="5877560" y="0"/>
                    </a:lnTo>
                    <a:cubicBezTo>
                      <a:pt x="5891530" y="0"/>
                      <a:pt x="5902960" y="11430"/>
                      <a:pt x="5902960" y="25400"/>
                    </a:cubicBezTo>
                    <a:lnTo>
                      <a:pt x="5902960" y="3317240"/>
                    </a:lnTo>
                    <a:cubicBezTo>
                      <a:pt x="5902960" y="3331210"/>
                      <a:pt x="5891530" y="3342640"/>
                      <a:pt x="5877560" y="3342640"/>
                    </a:cubicBezTo>
                    <a:lnTo>
                      <a:pt x="25400" y="3342640"/>
                    </a:lnTo>
                    <a:cubicBezTo>
                      <a:pt x="11430" y="3342640"/>
                      <a:pt x="0" y="3331210"/>
                      <a:pt x="0" y="3317240"/>
                    </a:cubicBezTo>
                    <a:lnTo>
                      <a:pt x="0" y="25400"/>
                    </a:lnTo>
                    <a:cubicBezTo>
                      <a:pt x="0" y="11430"/>
                      <a:pt x="11430" y="0"/>
                      <a:pt x="25400" y="0"/>
                    </a:cubicBezTo>
                    <a:moveTo>
                      <a:pt x="25400" y="50800"/>
                    </a:moveTo>
                    <a:lnTo>
                      <a:pt x="25400" y="25400"/>
                    </a:lnTo>
                    <a:lnTo>
                      <a:pt x="50800" y="25400"/>
                    </a:lnTo>
                    <a:lnTo>
                      <a:pt x="50800" y="3317240"/>
                    </a:lnTo>
                    <a:lnTo>
                      <a:pt x="25400" y="3317240"/>
                    </a:lnTo>
                    <a:lnTo>
                      <a:pt x="25400" y="3291840"/>
                    </a:lnTo>
                    <a:lnTo>
                      <a:pt x="5877560" y="3291840"/>
                    </a:lnTo>
                    <a:lnTo>
                      <a:pt x="5877560" y="3317240"/>
                    </a:lnTo>
                    <a:lnTo>
                      <a:pt x="5852160" y="3317240"/>
                    </a:lnTo>
                    <a:lnTo>
                      <a:pt x="5852160" y="25400"/>
                    </a:lnTo>
                    <a:lnTo>
                      <a:pt x="5877560" y="25400"/>
                    </a:lnTo>
                    <a:lnTo>
                      <a:pt x="5877560" y="50800"/>
                    </a:lnTo>
                    <a:lnTo>
                      <a:pt x="25400" y="50800"/>
                    </a:lnTo>
                    <a:close/>
                  </a:path>
                </a:pathLst>
              </a:custGeom>
              <a:solidFill>
                <a:srgbClr val="C0392B"/>
              </a:solidFill>
            </p:spPr>
          </p:sp>
        </p:grpSp>
      </p:grpSp>
      <p:grpSp>
        <p:nvGrpSpPr>
          <p:cNvPr name="Group 112" id="112"/>
          <p:cNvGrpSpPr/>
          <p:nvPr/>
        </p:nvGrpSpPr>
        <p:grpSpPr>
          <a:xfrm rot="0">
            <a:off x="10881360" y="6949440"/>
            <a:ext cx="128016" cy="2468880"/>
            <a:chOff x="0" y="0"/>
            <a:chExt cx="170688" cy="32918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210544" y="7095744"/>
            <a:ext cx="3840480" cy="548640"/>
            <a:chOff x="0" y="0"/>
            <a:chExt cx="5120640" cy="7315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76200"/>
              <a:ext cx="51206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039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No Visibility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1210544" y="7613009"/>
            <a:ext cx="3840480" cy="1554480"/>
            <a:chOff x="0" y="0"/>
            <a:chExt cx="5120640" cy="20726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5120640" cy="2101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Forgets fridge items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Buys duplicates unknowingly</a:t>
              </a:r>
            </a:p>
            <a:p>
              <a:pPr algn="l" marL="530859" indent="-26543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F5F0E1"/>
                  </a:solidFill>
                  <a:latin typeface="Telegraf"/>
                  <a:ea typeface="Telegraf"/>
                  <a:cs typeface="Telegraf"/>
                  <a:sym typeface="Telegraf"/>
                </a:rPr>
                <a:t>No expiration tracking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14400" y="9692640"/>
            <a:ext cx="16459200" cy="548640"/>
            <a:chOff x="0" y="0"/>
            <a:chExt cx="21945600" cy="73152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21945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8732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⚠ Key pain points FridgeHero solves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17168"/>
            <a:ext cx="9144000" cy="1562227"/>
            <a:chOff x="0" y="0"/>
            <a:chExt cx="12192000" cy="20829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2082969"/>
            </a:xfrm>
            <a:custGeom>
              <a:avLst/>
              <a:gdLst/>
              <a:ahLst/>
              <a:cxnLst/>
              <a:rect r="r" b="b" t="t" l="l"/>
              <a:pathLst>
                <a:path h="2082969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082969"/>
                  </a:lnTo>
                  <a:lnTo>
                    <a:pt x="0" y="2082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77" r="0" b="-550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38125"/>
              <a:ext cx="12192000" cy="2321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2D4D3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Product Demo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6361C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60045" y="521843"/>
            <a:ext cx="6599255" cy="548640"/>
            <a:chOff x="0" y="0"/>
            <a:chExt cx="8799007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99007" cy="731520"/>
            </a:xfrm>
            <a:custGeom>
              <a:avLst/>
              <a:gdLst/>
              <a:ahLst/>
              <a:cxnLst/>
              <a:rect r="r" b="b" t="t" l="l"/>
              <a:pathLst>
                <a:path h="731520" w="8799007">
                  <a:moveTo>
                    <a:pt x="0" y="0"/>
                  </a:moveTo>
                  <a:lnTo>
                    <a:pt x="8799007" y="0"/>
                  </a:lnTo>
                  <a:lnTo>
                    <a:pt x="879900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-2535" b="-1903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79900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16361C"/>
                  </a:solidFill>
                  <a:latin typeface="Agrandir"/>
                  <a:ea typeface="Agrandir"/>
                  <a:cs typeface="Agrandir"/>
                  <a:sym typeface="Agrandir"/>
                </a:rPr>
                <a:t>The Product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85945" y="8481829"/>
            <a:ext cx="4316110" cy="863222"/>
            <a:chOff x="0" y="0"/>
            <a:chExt cx="975360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975360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Built with Figma Make + Lovable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35835" y="4016006"/>
            <a:ext cx="277543" cy="27754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02553" y="5506908"/>
            <a:ext cx="277543" cy="27754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95510" y="7277021"/>
            <a:ext cx="277543" cy="2775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1430" y="5813869"/>
            <a:ext cx="277543" cy="2775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00339" y="3997901"/>
            <a:ext cx="277543" cy="27754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56256" y="5506908"/>
            <a:ext cx="277543" cy="27754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67395" y="7300478"/>
            <a:ext cx="277543" cy="2775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>
            <a:off x="5941324" y="5514121"/>
            <a:ext cx="1592957" cy="1913903"/>
          </a:xfrm>
          <a:custGeom>
            <a:avLst/>
            <a:gdLst/>
            <a:ahLst/>
            <a:cxnLst/>
            <a:rect r="r" b="b" t="t" l="l"/>
            <a:pathLst>
              <a:path h="1913903" w="1592957">
                <a:moveTo>
                  <a:pt x="0" y="0"/>
                </a:moveTo>
                <a:lnTo>
                  <a:pt x="0" y="1685303"/>
                </a:lnTo>
                <a:cubicBezTo>
                  <a:pt x="0" y="1811555"/>
                  <a:pt x="102348" y="1913903"/>
                  <a:pt x="228600" y="1913903"/>
                </a:cubicBezTo>
                <a:lnTo>
                  <a:pt x="1592957" y="1913903"/>
                </a:lnTo>
              </a:path>
            </a:pathLst>
          </a:custGeom>
          <a:ln cap="flat" w="38100">
            <a:solidFill>
              <a:srgbClr val="0E46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>
            <a:off x="12895027" y="5645679"/>
            <a:ext cx="1111140" cy="1782345"/>
          </a:xfrm>
          <a:custGeom>
            <a:avLst/>
            <a:gdLst/>
            <a:ahLst/>
            <a:cxnLst/>
            <a:rect r="r" b="b" t="t" l="l"/>
            <a:pathLst>
              <a:path h="1782345" w="1111140">
                <a:moveTo>
                  <a:pt x="0" y="0"/>
                </a:moveTo>
                <a:lnTo>
                  <a:pt x="0" y="1553745"/>
                </a:lnTo>
                <a:cubicBezTo>
                  <a:pt x="0" y="1679997"/>
                  <a:pt x="102348" y="1782345"/>
                  <a:pt x="228600" y="1782345"/>
                </a:cubicBezTo>
                <a:lnTo>
                  <a:pt x="1111140" y="1782345"/>
                </a:lnTo>
              </a:path>
            </a:pathLst>
          </a:custGeom>
          <a:ln cap="flat" w="38100">
            <a:solidFill>
              <a:srgbClr val="0E46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>
            <a:off x="9577151" y="4154777"/>
            <a:ext cx="1671785" cy="1797863"/>
          </a:xfrm>
          <a:custGeom>
            <a:avLst/>
            <a:gdLst/>
            <a:ahLst/>
            <a:cxnLst/>
            <a:rect r="r" b="b" t="t" l="l"/>
            <a:pathLst>
              <a:path h="1797863" w="1671785">
                <a:moveTo>
                  <a:pt x="1671785" y="0"/>
                </a:moveTo>
                <a:lnTo>
                  <a:pt x="246904" y="0"/>
                </a:lnTo>
                <a:cubicBezTo>
                  <a:pt x="120652" y="0"/>
                  <a:pt x="18304" y="102348"/>
                  <a:pt x="18304" y="228600"/>
                </a:cubicBezTo>
                <a:lnTo>
                  <a:pt x="18304" y="1788711"/>
                </a:lnTo>
                <a:cubicBezTo>
                  <a:pt x="18304" y="1793766"/>
                  <a:pt x="14207" y="1797863"/>
                  <a:pt x="9152" y="1797863"/>
                </a:cubicBezTo>
                <a:lnTo>
                  <a:pt x="0" y="1797863"/>
                </a:lnTo>
              </a:path>
            </a:pathLst>
          </a:custGeom>
          <a:ln cap="flat" w="38100">
            <a:solidFill>
              <a:srgbClr val="0E46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>
            <a:off x="2812282" y="4161143"/>
            <a:ext cx="1462324" cy="1791497"/>
          </a:xfrm>
          <a:custGeom>
            <a:avLst/>
            <a:gdLst/>
            <a:ahLst/>
            <a:cxnLst/>
            <a:rect r="r" b="b" t="t" l="l"/>
            <a:pathLst>
              <a:path h="1791497" w="1462324">
                <a:moveTo>
                  <a:pt x="1462325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1791497"/>
                </a:lnTo>
              </a:path>
            </a:pathLst>
          </a:custGeom>
          <a:ln cap="flat" w="38100">
            <a:solidFill>
              <a:srgbClr val="0E46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4274607" y="2676608"/>
            <a:ext cx="3610978" cy="2969071"/>
            <a:chOff x="0" y="0"/>
            <a:chExt cx="951039" cy="7819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040" cy="781978"/>
            </a:xfrm>
            <a:custGeom>
              <a:avLst/>
              <a:gdLst/>
              <a:ahLst/>
              <a:cxnLst/>
              <a:rect r="r" b="b" t="t" l="l"/>
              <a:pathLst>
                <a:path h="781978" w="951040">
                  <a:moveTo>
                    <a:pt x="68608" y="0"/>
                  </a:moveTo>
                  <a:lnTo>
                    <a:pt x="882432" y="0"/>
                  </a:lnTo>
                  <a:cubicBezTo>
                    <a:pt x="900628" y="0"/>
                    <a:pt x="918078" y="7228"/>
                    <a:pt x="930945" y="20095"/>
                  </a:cubicBezTo>
                  <a:cubicBezTo>
                    <a:pt x="943811" y="32961"/>
                    <a:pt x="951040" y="50412"/>
                    <a:pt x="951040" y="68608"/>
                  </a:cubicBezTo>
                  <a:lnTo>
                    <a:pt x="951040" y="713370"/>
                  </a:lnTo>
                  <a:cubicBezTo>
                    <a:pt x="951040" y="751261"/>
                    <a:pt x="920323" y="781978"/>
                    <a:pt x="882432" y="781978"/>
                  </a:cubicBezTo>
                  <a:lnTo>
                    <a:pt x="68608" y="781978"/>
                  </a:lnTo>
                  <a:cubicBezTo>
                    <a:pt x="50412" y="781978"/>
                    <a:pt x="32961" y="774749"/>
                    <a:pt x="20095" y="761883"/>
                  </a:cubicBezTo>
                  <a:cubicBezTo>
                    <a:pt x="7228" y="749016"/>
                    <a:pt x="0" y="731566"/>
                    <a:pt x="0" y="713370"/>
                  </a:cubicBezTo>
                  <a:lnTo>
                    <a:pt x="0" y="68608"/>
                  </a:lnTo>
                  <a:cubicBezTo>
                    <a:pt x="0" y="30717"/>
                    <a:pt x="30717" y="0"/>
                    <a:pt x="68608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951039" cy="8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673511" y="5813869"/>
            <a:ext cx="277543" cy="27754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461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5952640"/>
            <a:ext cx="3567165" cy="2950767"/>
            <a:chOff x="0" y="0"/>
            <a:chExt cx="939500" cy="7771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9500" cy="777157"/>
            </a:xfrm>
            <a:custGeom>
              <a:avLst/>
              <a:gdLst/>
              <a:ahLst/>
              <a:cxnLst/>
              <a:rect r="r" b="b" t="t" l="l"/>
              <a:pathLst>
                <a:path h="777157" w="939500">
                  <a:moveTo>
                    <a:pt x="69451" y="0"/>
                  </a:moveTo>
                  <a:lnTo>
                    <a:pt x="870050" y="0"/>
                  </a:lnTo>
                  <a:cubicBezTo>
                    <a:pt x="908406" y="0"/>
                    <a:pt x="939500" y="31094"/>
                    <a:pt x="939500" y="69451"/>
                  </a:cubicBezTo>
                  <a:lnTo>
                    <a:pt x="939500" y="707706"/>
                  </a:lnTo>
                  <a:cubicBezTo>
                    <a:pt x="939500" y="726126"/>
                    <a:pt x="932183" y="743791"/>
                    <a:pt x="919159" y="756815"/>
                  </a:cubicBezTo>
                  <a:cubicBezTo>
                    <a:pt x="906134" y="769840"/>
                    <a:pt x="888469" y="777157"/>
                    <a:pt x="870050" y="777157"/>
                  </a:cubicBezTo>
                  <a:lnTo>
                    <a:pt x="69451" y="777157"/>
                  </a:lnTo>
                  <a:cubicBezTo>
                    <a:pt x="51031" y="777157"/>
                    <a:pt x="33366" y="769840"/>
                    <a:pt x="20342" y="756815"/>
                  </a:cubicBezTo>
                  <a:cubicBezTo>
                    <a:pt x="7317" y="743791"/>
                    <a:pt x="0" y="726126"/>
                    <a:pt x="0" y="707706"/>
                  </a:cubicBezTo>
                  <a:lnTo>
                    <a:pt x="0" y="69451"/>
                  </a:lnTo>
                  <a:cubicBezTo>
                    <a:pt x="0" y="51031"/>
                    <a:pt x="7317" y="33366"/>
                    <a:pt x="20342" y="20342"/>
                  </a:cubicBezTo>
                  <a:cubicBezTo>
                    <a:pt x="33366" y="7317"/>
                    <a:pt x="51031" y="0"/>
                    <a:pt x="69451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939500" cy="86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34281" y="5952640"/>
            <a:ext cx="4085740" cy="2950767"/>
            <a:chOff x="0" y="0"/>
            <a:chExt cx="1076080" cy="77715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080" cy="777157"/>
            </a:xfrm>
            <a:custGeom>
              <a:avLst/>
              <a:gdLst/>
              <a:ahLst/>
              <a:cxnLst/>
              <a:rect r="r" b="b" t="t" l="l"/>
              <a:pathLst>
                <a:path h="777157" w="1076080">
                  <a:moveTo>
                    <a:pt x="60636" y="0"/>
                  </a:moveTo>
                  <a:lnTo>
                    <a:pt x="1015444" y="0"/>
                  </a:lnTo>
                  <a:cubicBezTo>
                    <a:pt x="1048932" y="0"/>
                    <a:pt x="1076080" y="27148"/>
                    <a:pt x="1076080" y="60636"/>
                  </a:cubicBezTo>
                  <a:lnTo>
                    <a:pt x="1076080" y="716521"/>
                  </a:lnTo>
                  <a:cubicBezTo>
                    <a:pt x="1076080" y="750009"/>
                    <a:pt x="1048932" y="777157"/>
                    <a:pt x="1015444" y="777157"/>
                  </a:cubicBezTo>
                  <a:lnTo>
                    <a:pt x="60636" y="777157"/>
                  </a:lnTo>
                  <a:cubicBezTo>
                    <a:pt x="27148" y="777157"/>
                    <a:pt x="0" y="750009"/>
                    <a:pt x="0" y="716521"/>
                  </a:cubicBezTo>
                  <a:lnTo>
                    <a:pt x="0" y="60636"/>
                  </a:lnTo>
                  <a:cubicBezTo>
                    <a:pt x="0" y="27148"/>
                    <a:pt x="27148" y="0"/>
                    <a:pt x="60636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076080" cy="86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139110" y="2676608"/>
            <a:ext cx="3511833" cy="2969071"/>
            <a:chOff x="0" y="0"/>
            <a:chExt cx="924927" cy="7819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24927" cy="781978"/>
            </a:xfrm>
            <a:custGeom>
              <a:avLst/>
              <a:gdLst/>
              <a:ahLst/>
              <a:cxnLst/>
              <a:rect r="r" b="b" t="t" l="l"/>
              <a:pathLst>
                <a:path h="781978" w="924927">
                  <a:moveTo>
                    <a:pt x="70545" y="0"/>
                  </a:moveTo>
                  <a:lnTo>
                    <a:pt x="854383" y="0"/>
                  </a:lnTo>
                  <a:cubicBezTo>
                    <a:pt x="873092" y="0"/>
                    <a:pt x="891035" y="7432"/>
                    <a:pt x="904265" y="20662"/>
                  </a:cubicBezTo>
                  <a:cubicBezTo>
                    <a:pt x="917495" y="33892"/>
                    <a:pt x="924927" y="51835"/>
                    <a:pt x="924927" y="70545"/>
                  </a:cubicBezTo>
                  <a:lnTo>
                    <a:pt x="924927" y="711433"/>
                  </a:lnTo>
                  <a:cubicBezTo>
                    <a:pt x="924927" y="730143"/>
                    <a:pt x="917495" y="748086"/>
                    <a:pt x="904265" y="761316"/>
                  </a:cubicBezTo>
                  <a:cubicBezTo>
                    <a:pt x="891035" y="774545"/>
                    <a:pt x="873092" y="781978"/>
                    <a:pt x="854383" y="781978"/>
                  </a:cubicBezTo>
                  <a:lnTo>
                    <a:pt x="70545" y="781978"/>
                  </a:lnTo>
                  <a:cubicBezTo>
                    <a:pt x="51835" y="781978"/>
                    <a:pt x="33892" y="774545"/>
                    <a:pt x="20662" y="761316"/>
                  </a:cubicBezTo>
                  <a:cubicBezTo>
                    <a:pt x="7432" y="748086"/>
                    <a:pt x="0" y="730143"/>
                    <a:pt x="0" y="711433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924927" cy="867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06166" y="5952640"/>
            <a:ext cx="3365230" cy="2950767"/>
            <a:chOff x="0" y="0"/>
            <a:chExt cx="886316" cy="77715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86316" cy="777157"/>
            </a:xfrm>
            <a:custGeom>
              <a:avLst/>
              <a:gdLst/>
              <a:ahLst/>
              <a:cxnLst/>
              <a:rect r="r" b="b" t="t" l="l"/>
              <a:pathLst>
                <a:path h="777157" w="886316">
                  <a:moveTo>
                    <a:pt x="73618" y="0"/>
                  </a:moveTo>
                  <a:lnTo>
                    <a:pt x="812698" y="0"/>
                  </a:lnTo>
                  <a:cubicBezTo>
                    <a:pt x="853356" y="0"/>
                    <a:pt x="886316" y="32960"/>
                    <a:pt x="886316" y="73618"/>
                  </a:cubicBezTo>
                  <a:lnTo>
                    <a:pt x="886316" y="703539"/>
                  </a:lnTo>
                  <a:cubicBezTo>
                    <a:pt x="886316" y="744197"/>
                    <a:pt x="853356" y="777157"/>
                    <a:pt x="812698" y="777157"/>
                  </a:cubicBezTo>
                  <a:lnTo>
                    <a:pt x="73618" y="777157"/>
                  </a:lnTo>
                  <a:cubicBezTo>
                    <a:pt x="54093" y="777157"/>
                    <a:pt x="35368" y="769401"/>
                    <a:pt x="21562" y="755595"/>
                  </a:cubicBezTo>
                  <a:cubicBezTo>
                    <a:pt x="7756" y="741789"/>
                    <a:pt x="0" y="723064"/>
                    <a:pt x="0" y="703539"/>
                  </a:cubicBezTo>
                  <a:lnTo>
                    <a:pt x="0" y="73618"/>
                  </a:lnTo>
                  <a:cubicBezTo>
                    <a:pt x="0" y="32960"/>
                    <a:pt x="32960" y="0"/>
                    <a:pt x="73618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886316" cy="86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E461B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660045" y="521843"/>
            <a:ext cx="6599255" cy="548640"/>
            <a:chOff x="0" y="0"/>
            <a:chExt cx="8799007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99007" cy="731520"/>
            </a:xfrm>
            <a:custGeom>
              <a:avLst/>
              <a:gdLst/>
              <a:ahLst/>
              <a:cxnLst/>
              <a:rect r="r" b="b" t="t" l="l"/>
              <a:pathLst>
                <a:path h="731520" w="8799007">
                  <a:moveTo>
                    <a:pt x="0" y="0"/>
                  </a:moveTo>
                  <a:lnTo>
                    <a:pt x="8799007" y="0"/>
                  </a:lnTo>
                  <a:lnTo>
                    <a:pt x="879900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315" r="-2535" b="-1903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79900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E461B"/>
                  </a:solidFill>
                  <a:latin typeface="Agrandir"/>
                  <a:ea typeface="Agrandir"/>
                  <a:cs typeface="Agrandir"/>
                  <a:sym typeface="Agrandir"/>
                </a:rPr>
                <a:t>New User Flow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028700" y="3997901"/>
            <a:ext cx="1683147" cy="1982293"/>
          </a:xfrm>
          <a:custGeom>
            <a:avLst/>
            <a:gdLst/>
            <a:ahLst/>
            <a:cxnLst/>
            <a:rect r="r" b="b" t="t" l="l"/>
            <a:pathLst>
              <a:path h="1982293" w="1683147">
                <a:moveTo>
                  <a:pt x="0" y="0"/>
                </a:moveTo>
                <a:lnTo>
                  <a:pt x="1683147" y="0"/>
                </a:lnTo>
                <a:lnTo>
                  <a:pt x="1683147" y="1982293"/>
                </a:lnTo>
                <a:lnTo>
                  <a:pt x="0" y="1982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028700" y="1202795"/>
            <a:ext cx="12447786" cy="128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56"/>
              </a:lnSpc>
            </a:pPr>
            <a:r>
              <a:rPr lang="en-US" sz="8100" b="true">
                <a:solidFill>
                  <a:srgbClr val="0E461B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Jessica’s </a:t>
            </a:r>
            <a:r>
              <a:rPr lang="en-US" sz="8100" b="true">
                <a:solidFill>
                  <a:srgbClr val="0E461B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New User Flow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48340" y="7487889"/>
            <a:ext cx="2784347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Stop overbuying using our </a:t>
            </a:r>
            <a:r>
              <a:rPr lang="en-US" sz="1899">
                <a:solidFill>
                  <a:srgbClr val="FFC37A"/>
                </a:solidFill>
                <a:latin typeface="Telegraf"/>
                <a:ea typeface="Telegraf"/>
                <a:cs typeface="Telegraf"/>
                <a:sym typeface="Telegraf"/>
              </a:rPr>
              <a:t>Food Tracker </a:t>
            </a:r>
            <a:r>
              <a:rPr lang="en-US" sz="1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before she shops.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731361" y="4208768"/>
            <a:ext cx="2539424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C37A"/>
                </a:solidFill>
                <a:latin typeface="Telegraf"/>
                <a:ea typeface="Telegraf"/>
                <a:cs typeface="Telegraf"/>
                <a:sym typeface="Telegraf"/>
              </a:rPr>
              <a:t>Learn Page </a:t>
            </a:r>
            <a:r>
              <a:rPr lang="en-US" sz="1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gives storage tips to keep food fresh longer.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01035" y="6418501"/>
            <a:ext cx="2530835" cy="10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Smart Shopping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731361" y="3151620"/>
            <a:ext cx="3314420" cy="10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Active Preservation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27716" y="4208768"/>
            <a:ext cx="2829872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Turn expiring ingredients into meals with custom </a:t>
            </a:r>
            <a:r>
              <a:rPr lang="en-US" sz="1899">
                <a:solidFill>
                  <a:srgbClr val="FFC37A"/>
                </a:solidFill>
                <a:latin typeface="Telegraf"/>
                <a:ea typeface="Telegraf"/>
                <a:cs typeface="Telegraf"/>
                <a:sym typeface="Telegraf"/>
              </a:rPr>
              <a:t>AI Recipes</a:t>
            </a:r>
            <a:r>
              <a:rPr lang="en-US" sz="1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883593" y="7487889"/>
            <a:ext cx="338711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C37A"/>
                </a:solidFill>
                <a:latin typeface="Telegraf"/>
                <a:ea typeface="Telegraf"/>
                <a:cs typeface="Telegraf"/>
                <a:sym typeface="Telegraf"/>
              </a:rPr>
              <a:t>Receipt Scanner</a:t>
            </a:r>
            <a:r>
              <a:rPr lang="en-US" sz="1899">
                <a:solidFill>
                  <a:srgbClr val="FAF8F0"/>
                </a:solidFill>
                <a:latin typeface="Telegraf"/>
                <a:ea typeface="Telegraf"/>
                <a:cs typeface="Telegraf"/>
                <a:sym typeface="Telegraf"/>
              </a:rPr>
              <a:t> tracks groceries + sends expiry reminders for busy lifestyles.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27716" y="3145254"/>
            <a:ext cx="2829872" cy="10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Adaptive Cooking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883593" y="6429726"/>
            <a:ext cx="2925100" cy="10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Zero-Effort Tracking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420792" y="7487889"/>
            <a:ext cx="2623202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Visualize her financial and environmental wins on the </a:t>
            </a:r>
            <a:r>
              <a:rPr lang="en-US" sz="1899">
                <a:solidFill>
                  <a:srgbClr val="FFC37A"/>
                </a:solidFill>
                <a:latin typeface="Telegraf"/>
                <a:ea typeface="Telegraf"/>
                <a:cs typeface="Telegraf"/>
                <a:sym typeface="Telegraf"/>
              </a:rPr>
              <a:t>Stats Page.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420792" y="6429726"/>
            <a:ext cx="2124640" cy="10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6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Impact Tracking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91946"/>
            <a:ext cx="9144000" cy="1412672"/>
            <a:chOff x="0" y="0"/>
            <a:chExt cx="12192000" cy="1883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883562"/>
            </a:xfrm>
            <a:custGeom>
              <a:avLst/>
              <a:gdLst/>
              <a:ahLst/>
              <a:cxnLst/>
              <a:rect r="r" b="b" t="t" l="l"/>
              <a:pathLst>
                <a:path h="188356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883562"/>
                  </a:lnTo>
                  <a:lnTo>
                    <a:pt x="0" y="18835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13" r="0" b="-7143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00025"/>
              <a:ext cx="12192000" cy="20835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0E461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Metrics &amp; KPIs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26080"/>
            <a:ext cx="16230600" cy="2743200"/>
            <a:chOff x="0" y="0"/>
            <a:chExt cx="21640800" cy="3657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08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640800">
                  <a:moveTo>
                    <a:pt x="398386" y="0"/>
                  </a:moveTo>
                  <a:lnTo>
                    <a:pt x="21242413" y="0"/>
                  </a:lnTo>
                  <a:cubicBezTo>
                    <a:pt x="21348072" y="0"/>
                    <a:pt x="21449404" y="41973"/>
                    <a:pt x="21524116" y="116685"/>
                  </a:cubicBezTo>
                  <a:cubicBezTo>
                    <a:pt x="21598827" y="191397"/>
                    <a:pt x="21640800" y="292728"/>
                    <a:pt x="21640800" y="398386"/>
                  </a:cubicBezTo>
                  <a:lnTo>
                    <a:pt x="21640800" y="3259213"/>
                  </a:lnTo>
                  <a:cubicBezTo>
                    <a:pt x="21640800" y="3364872"/>
                    <a:pt x="21598827" y="3466204"/>
                    <a:pt x="21524116" y="3540915"/>
                  </a:cubicBezTo>
                  <a:cubicBezTo>
                    <a:pt x="21449404" y="3615627"/>
                    <a:pt x="21348072" y="3657600"/>
                    <a:pt x="21242413" y="3657600"/>
                  </a:cubicBezTo>
                  <a:lnTo>
                    <a:pt x="398386" y="3657600"/>
                  </a:lnTo>
                  <a:cubicBezTo>
                    <a:pt x="292728" y="3657600"/>
                    <a:pt x="191397" y="3615627"/>
                    <a:pt x="116685" y="3540915"/>
                  </a:cubicBezTo>
                  <a:cubicBezTo>
                    <a:pt x="41973" y="3466204"/>
                    <a:pt x="0" y="3364872"/>
                    <a:pt x="0" y="3259213"/>
                  </a:cubicBezTo>
                  <a:lnTo>
                    <a:pt x="0" y="398386"/>
                  </a:lnTo>
                  <a:cubicBezTo>
                    <a:pt x="0" y="292728"/>
                    <a:pt x="41973" y="191397"/>
                    <a:pt x="116685" y="116685"/>
                  </a:cubicBezTo>
                  <a:cubicBezTo>
                    <a:pt x="191397" y="41973"/>
                    <a:pt x="292728" y="0"/>
                    <a:pt x="398386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11605" y="3749040"/>
            <a:ext cx="954741" cy="914400"/>
            <a:chOff x="0" y="0"/>
            <a:chExt cx="1272988" cy="1219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72988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72988">
                  <a:moveTo>
                    <a:pt x="0" y="0"/>
                  </a:moveTo>
                  <a:lnTo>
                    <a:pt x="1272988" y="0"/>
                  </a:lnTo>
                  <a:lnTo>
                    <a:pt x="1272988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05" r="0" b="-220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129131" y="3108960"/>
            <a:ext cx="5728447" cy="731520"/>
            <a:chOff x="0" y="0"/>
            <a:chExt cx="7637929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37929" cy="975360"/>
            </a:xfrm>
            <a:custGeom>
              <a:avLst/>
              <a:gdLst/>
              <a:ahLst/>
              <a:cxnLst/>
              <a:rect r="r" b="b" t="t" l="l"/>
              <a:pathLst>
                <a:path h="975360" w="7637929">
                  <a:moveTo>
                    <a:pt x="0" y="0"/>
                  </a:moveTo>
                  <a:lnTo>
                    <a:pt x="7637929" y="0"/>
                  </a:lnTo>
                  <a:lnTo>
                    <a:pt x="763792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4225" b="-9613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7637929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>
                  <a:solidFill>
                    <a:srgbClr val="FFC37A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North Star Metric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29131" y="3749040"/>
            <a:ext cx="8783619" cy="1097280"/>
            <a:chOff x="0" y="0"/>
            <a:chExt cx="11711492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11492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711492">
                  <a:moveTo>
                    <a:pt x="0" y="0"/>
                  </a:moveTo>
                  <a:lnTo>
                    <a:pt x="11711492" y="0"/>
                  </a:lnTo>
                  <a:lnTo>
                    <a:pt x="1171149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16717" b="-799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71450"/>
              <a:ext cx="11711492" cy="1634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% </a:t>
              </a:r>
              <a:r>
                <a:rPr lang="en-US" sz="5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Food Saved / User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12749" y="3237441"/>
            <a:ext cx="4773706" cy="2159178"/>
            <a:chOff x="0" y="0"/>
            <a:chExt cx="6364941" cy="28789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4941" cy="2878904"/>
            </a:xfrm>
            <a:custGeom>
              <a:avLst/>
              <a:gdLst/>
              <a:ahLst/>
              <a:cxnLst/>
              <a:rect r="r" b="b" t="t" l="l"/>
              <a:pathLst>
                <a:path h="2878904" w="6364941">
                  <a:moveTo>
                    <a:pt x="0" y="0"/>
                  </a:moveTo>
                  <a:lnTo>
                    <a:pt x="6364941" y="0"/>
                  </a:lnTo>
                  <a:lnTo>
                    <a:pt x="6364941" y="2878904"/>
                  </a:lnTo>
                  <a:lnTo>
                    <a:pt x="0" y="28789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14" r="4225" b="290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80975"/>
              <a:ext cx="6364941" cy="3059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440"/>
                </a:lnSpc>
              </a:pPr>
              <a:r>
                <a:rPr lang="en-US" sz="6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Target: 70%+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217920"/>
            <a:ext cx="7637929" cy="1554480"/>
            <a:chOff x="0" y="0"/>
            <a:chExt cx="10183906" cy="2072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83906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183906">
                  <a:moveTo>
                    <a:pt x="389228" y="0"/>
                  </a:moveTo>
                  <a:lnTo>
                    <a:pt x="9794677" y="0"/>
                  </a:lnTo>
                  <a:cubicBezTo>
                    <a:pt x="9897907" y="0"/>
                    <a:pt x="9996909" y="41008"/>
                    <a:pt x="10069903" y="114002"/>
                  </a:cubicBezTo>
                  <a:cubicBezTo>
                    <a:pt x="10142898" y="186997"/>
                    <a:pt x="10183906" y="285998"/>
                    <a:pt x="10183906" y="389228"/>
                  </a:cubicBezTo>
                  <a:lnTo>
                    <a:pt x="10183906" y="1683412"/>
                  </a:lnTo>
                  <a:cubicBezTo>
                    <a:pt x="10183906" y="1786642"/>
                    <a:pt x="10142898" y="1885643"/>
                    <a:pt x="10069903" y="1958638"/>
                  </a:cubicBezTo>
                  <a:cubicBezTo>
                    <a:pt x="9996909" y="2031632"/>
                    <a:pt x="9897907" y="2072640"/>
                    <a:pt x="9794677" y="2072640"/>
                  </a:cubicBezTo>
                  <a:lnTo>
                    <a:pt x="389228" y="2072640"/>
                  </a:lnTo>
                  <a:cubicBezTo>
                    <a:pt x="285998" y="2072640"/>
                    <a:pt x="186997" y="2031632"/>
                    <a:pt x="114002" y="1958638"/>
                  </a:cubicBezTo>
                  <a:cubicBezTo>
                    <a:pt x="41008" y="1885643"/>
                    <a:pt x="0" y="1786642"/>
                    <a:pt x="0" y="1683412"/>
                  </a:cubicBezTo>
                  <a:lnTo>
                    <a:pt x="0" y="389228"/>
                  </a:lnTo>
                  <a:cubicBezTo>
                    <a:pt x="0" y="285998"/>
                    <a:pt x="41008" y="186997"/>
                    <a:pt x="114002" y="114002"/>
                  </a:cubicBezTo>
                  <a:cubicBezTo>
                    <a:pt x="186997" y="41008"/>
                    <a:pt x="285998" y="0"/>
                    <a:pt x="389228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10596" y="6309360"/>
            <a:ext cx="4391809" cy="640080"/>
            <a:chOff x="0" y="0"/>
            <a:chExt cx="5855746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5746" cy="853440"/>
            </a:xfrm>
            <a:custGeom>
              <a:avLst/>
              <a:gdLst/>
              <a:ahLst/>
              <a:cxnLst/>
              <a:rect r="r" b="b" t="t" l="l"/>
              <a:pathLst>
                <a:path h="853440" w="5855746">
                  <a:moveTo>
                    <a:pt x="0" y="0"/>
                  </a:moveTo>
                  <a:lnTo>
                    <a:pt x="5855746" y="0"/>
                  </a:lnTo>
                  <a:lnTo>
                    <a:pt x="585574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4225" b="-780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5855746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Weekly Active Users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93354" y="6309360"/>
            <a:ext cx="2291379" cy="935431"/>
            <a:chOff x="0" y="0"/>
            <a:chExt cx="3055172" cy="1247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5172" cy="1247242"/>
            </a:xfrm>
            <a:custGeom>
              <a:avLst/>
              <a:gdLst/>
              <a:ahLst/>
              <a:cxnLst/>
              <a:rect r="r" b="b" t="t" l="l"/>
              <a:pathLst>
                <a:path h="1247242" w="3055172">
                  <a:moveTo>
                    <a:pt x="0" y="0"/>
                  </a:moveTo>
                  <a:lnTo>
                    <a:pt x="3055172" y="0"/>
                  </a:lnTo>
                  <a:lnTo>
                    <a:pt x="3055172" y="1247242"/>
                  </a:lnTo>
                  <a:lnTo>
                    <a:pt x="0" y="1247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" r="4225" b="102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3055172" cy="137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759"/>
                </a:lnSpc>
              </a:pPr>
              <a:r>
                <a:rPr lang="en-US" sz="48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10K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0596" y="7132320"/>
            <a:ext cx="6683188" cy="548640"/>
            <a:chOff x="0" y="0"/>
            <a:chExt cx="8910918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10917" cy="731520"/>
            </a:xfrm>
            <a:custGeom>
              <a:avLst/>
              <a:gdLst/>
              <a:ahLst/>
              <a:cxnLst/>
              <a:rect r="r" b="b" t="t" l="l"/>
              <a:pathLst>
                <a:path h="731520" w="8910917">
                  <a:moveTo>
                    <a:pt x="0" y="0"/>
                  </a:moveTo>
                  <a:lnTo>
                    <a:pt x="8910917" y="0"/>
                  </a:lnTo>
                  <a:lnTo>
                    <a:pt x="891091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4225" b="-1773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91091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Month 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21371" y="6217920"/>
            <a:ext cx="7637929" cy="1554480"/>
            <a:chOff x="0" y="0"/>
            <a:chExt cx="10183906" cy="2072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83906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183906">
                  <a:moveTo>
                    <a:pt x="389228" y="0"/>
                  </a:moveTo>
                  <a:lnTo>
                    <a:pt x="9794677" y="0"/>
                  </a:lnTo>
                  <a:cubicBezTo>
                    <a:pt x="9897907" y="0"/>
                    <a:pt x="9996909" y="41008"/>
                    <a:pt x="10069903" y="114002"/>
                  </a:cubicBezTo>
                  <a:cubicBezTo>
                    <a:pt x="10142898" y="186997"/>
                    <a:pt x="10183906" y="285998"/>
                    <a:pt x="10183906" y="389228"/>
                  </a:cubicBezTo>
                  <a:lnTo>
                    <a:pt x="10183906" y="1683412"/>
                  </a:lnTo>
                  <a:cubicBezTo>
                    <a:pt x="10183906" y="1786642"/>
                    <a:pt x="10142898" y="1885643"/>
                    <a:pt x="10069903" y="1958638"/>
                  </a:cubicBezTo>
                  <a:cubicBezTo>
                    <a:pt x="9996909" y="2031632"/>
                    <a:pt x="9897907" y="2072640"/>
                    <a:pt x="9794677" y="2072640"/>
                  </a:cubicBezTo>
                  <a:lnTo>
                    <a:pt x="389228" y="2072640"/>
                  </a:lnTo>
                  <a:cubicBezTo>
                    <a:pt x="285998" y="2072640"/>
                    <a:pt x="186997" y="2031632"/>
                    <a:pt x="114002" y="1958638"/>
                  </a:cubicBezTo>
                  <a:cubicBezTo>
                    <a:pt x="41008" y="1885643"/>
                    <a:pt x="0" y="1786642"/>
                    <a:pt x="0" y="1683412"/>
                  </a:cubicBezTo>
                  <a:lnTo>
                    <a:pt x="0" y="389228"/>
                  </a:lnTo>
                  <a:cubicBezTo>
                    <a:pt x="0" y="285998"/>
                    <a:pt x="41008" y="186997"/>
                    <a:pt x="114002" y="114002"/>
                  </a:cubicBezTo>
                  <a:cubicBezTo>
                    <a:pt x="186997" y="41008"/>
                    <a:pt x="285998" y="0"/>
                    <a:pt x="389228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03267" y="6309360"/>
            <a:ext cx="4391809" cy="640080"/>
            <a:chOff x="0" y="0"/>
            <a:chExt cx="5855746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5746" cy="853440"/>
            </a:xfrm>
            <a:custGeom>
              <a:avLst/>
              <a:gdLst/>
              <a:ahLst/>
              <a:cxnLst/>
              <a:rect r="r" b="b" t="t" l="l"/>
              <a:pathLst>
                <a:path h="853440" w="5855746">
                  <a:moveTo>
                    <a:pt x="0" y="0"/>
                  </a:moveTo>
                  <a:lnTo>
                    <a:pt x="5855746" y="0"/>
                  </a:lnTo>
                  <a:lnTo>
                    <a:pt x="585574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4225" b="-7804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5855746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Receipts Scanned / Week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86025" y="6309360"/>
            <a:ext cx="2291379" cy="935431"/>
            <a:chOff x="0" y="0"/>
            <a:chExt cx="3055172" cy="12472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55172" cy="1247242"/>
            </a:xfrm>
            <a:custGeom>
              <a:avLst/>
              <a:gdLst/>
              <a:ahLst/>
              <a:cxnLst/>
              <a:rect r="r" b="b" t="t" l="l"/>
              <a:pathLst>
                <a:path h="1247242" w="3055172">
                  <a:moveTo>
                    <a:pt x="0" y="0"/>
                  </a:moveTo>
                  <a:lnTo>
                    <a:pt x="3055172" y="0"/>
                  </a:lnTo>
                  <a:lnTo>
                    <a:pt x="3055172" y="1247242"/>
                  </a:lnTo>
                  <a:lnTo>
                    <a:pt x="0" y="1247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" r="4225" b="1029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23825"/>
              <a:ext cx="3055172" cy="137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759"/>
                </a:lnSpc>
              </a:pPr>
              <a:r>
                <a:rPr lang="en-US" sz="48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  <a:r>
                <a:rPr lang="en-US" sz="48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.5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03267" y="7132320"/>
            <a:ext cx="6683188" cy="548640"/>
            <a:chOff x="0" y="0"/>
            <a:chExt cx="8910918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10917" cy="731520"/>
            </a:xfrm>
            <a:custGeom>
              <a:avLst/>
              <a:gdLst/>
              <a:ahLst/>
              <a:cxnLst/>
              <a:rect r="r" b="b" t="t" l="l"/>
              <a:pathLst>
                <a:path h="731520" w="8910917">
                  <a:moveTo>
                    <a:pt x="0" y="0"/>
                  </a:moveTo>
                  <a:lnTo>
                    <a:pt x="8910917" y="0"/>
                  </a:lnTo>
                  <a:lnTo>
                    <a:pt x="891091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4225" b="-1773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91091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Per user avg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8700" y="8046720"/>
            <a:ext cx="7637929" cy="1554480"/>
            <a:chOff x="0" y="0"/>
            <a:chExt cx="10183906" cy="2072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83906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183906">
                  <a:moveTo>
                    <a:pt x="389228" y="0"/>
                  </a:moveTo>
                  <a:lnTo>
                    <a:pt x="9794677" y="0"/>
                  </a:lnTo>
                  <a:cubicBezTo>
                    <a:pt x="9897907" y="0"/>
                    <a:pt x="9996909" y="41008"/>
                    <a:pt x="10069903" y="114002"/>
                  </a:cubicBezTo>
                  <a:cubicBezTo>
                    <a:pt x="10142898" y="186997"/>
                    <a:pt x="10183906" y="285998"/>
                    <a:pt x="10183906" y="389228"/>
                  </a:cubicBezTo>
                  <a:lnTo>
                    <a:pt x="10183906" y="1683412"/>
                  </a:lnTo>
                  <a:cubicBezTo>
                    <a:pt x="10183906" y="1786642"/>
                    <a:pt x="10142898" y="1885643"/>
                    <a:pt x="10069903" y="1958638"/>
                  </a:cubicBezTo>
                  <a:cubicBezTo>
                    <a:pt x="9996909" y="2031632"/>
                    <a:pt x="9897907" y="2072640"/>
                    <a:pt x="9794677" y="2072640"/>
                  </a:cubicBezTo>
                  <a:lnTo>
                    <a:pt x="389228" y="2072640"/>
                  </a:lnTo>
                  <a:cubicBezTo>
                    <a:pt x="285998" y="2072640"/>
                    <a:pt x="186997" y="2031632"/>
                    <a:pt x="114002" y="1958638"/>
                  </a:cubicBezTo>
                  <a:cubicBezTo>
                    <a:pt x="41008" y="1885643"/>
                    <a:pt x="0" y="1786642"/>
                    <a:pt x="0" y="1683412"/>
                  </a:cubicBezTo>
                  <a:lnTo>
                    <a:pt x="0" y="389228"/>
                  </a:lnTo>
                  <a:cubicBezTo>
                    <a:pt x="0" y="285998"/>
                    <a:pt x="41008" y="186997"/>
                    <a:pt x="114002" y="114002"/>
                  </a:cubicBezTo>
                  <a:cubicBezTo>
                    <a:pt x="186997" y="41008"/>
                    <a:pt x="285998" y="0"/>
                    <a:pt x="389228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10596" y="8138160"/>
            <a:ext cx="4391809" cy="640080"/>
            <a:chOff x="0" y="0"/>
            <a:chExt cx="5855746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5746" cy="853440"/>
            </a:xfrm>
            <a:custGeom>
              <a:avLst/>
              <a:gdLst/>
              <a:ahLst/>
              <a:cxnLst/>
              <a:rect r="r" b="b" t="t" l="l"/>
              <a:pathLst>
                <a:path h="853440" w="5855746">
                  <a:moveTo>
                    <a:pt x="0" y="0"/>
                  </a:moveTo>
                  <a:lnTo>
                    <a:pt x="5855746" y="0"/>
                  </a:lnTo>
                  <a:lnTo>
                    <a:pt x="585574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4225" b="-7804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5855746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D7 Retention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93354" y="8138160"/>
            <a:ext cx="2291379" cy="935431"/>
            <a:chOff x="0" y="0"/>
            <a:chExt cx="3055172" cy="124724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55172" cy="1247242"/>
            </a:xfrm>
            <a:custGeom>
              <a:avLst/>
              <a:gdLst/>
              <a:ahLst/>
              <a:cxnLst/>
              <a:rect r="r" b="b" t="t" l="l"/>
              <a:pathLst>
                <a:path h="1247242" w="3055172">
                  <a:moveTo>
                    <a:pt x="0" y="0"/>
                  </a:moveTo>
                  <a:lnTo>
                    <a:pt x="3055172" y="0"/>
                  </a:lnTo>
                  <a:lnTo>
                    <a:pt x="3055172" y="1247242"/>
                  </a:lnTo>
                  <a:lnTo>
                    <a:pt x="0" y="1247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" r="4225" b="10299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3055172" cy="137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759"/>
                </a:lnSpc>
              </a:pPr>
              <a:r>
                <a:rPr lang="en-US" sz="48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40%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10596" y="8961120"/>
            <a:ext cx="6683188" cy="548640"/>
            <a:chOff x="0" y="0"/>
            <a:chExt cx="8910918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10917" cy="731520"/>
            </a:xfrm>
            <a:custGeom>
              <a:avLst/>
              <a:gdLst/>
              <a:ahLst/>
              <a:cxnLst/>
              <a:rect r="r" b="b" t="t" l="l"/>
              <a:pathLst>
                <a:path h="731520" w="8910917">
                  <a:moveTo>
                    <a:pt x="0" y="0"/>
                  </a:moveTo>
                  <a:lnTo>
                    <a:pt x="8910917" y="0"/>
                  </a:lnTo>
                  <a:lnTo>
                    <a:pt x="891091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4225" b="-1773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91091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Target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21371" y="8046720"/>
            <a:ext cx="7637929" cy="1554480"/>
            <a:chOff x="0" y="0"/>
            <a:chExt cx="10183906" cy="2072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183906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183906">
                  <a:moveTo>
                    <a:pt x="389228" y="0"/>
                  </a:moveTo>
                  <a:lnTo>
                    <a:pt x="9794677" y="0"/>
                  </a:lnTo>
                  <a:cubicBezTo>
                    <a:pt x="9897907" y="0"/>
                    <a:pt x="9996909" y="41008"/>
                    <a:pt x="10069903" y="114002"/>
                  </a:cubicBezTo>
                  <a:cubicBezTo>
                    <a:pt x="10142898" y="186997"/>
                    <a:pt x="10183906" y="285998"/>
                    <a:pt x="10183906" y="389228"/>
                  </a:cubicBezTo>
                  <a:lnTo>
                    <a:pt x="10183906" y="1683412"/>
                  </a:lnTo>
                  <a:cubicBezTo>
                    <a:pt x="10183906" y="1786642"/>
                    <a:pt x="10142898" y="1885643"/>
                    <a:pt x="10069903" y="1958638"/>
                  </a:cubicBezTo>
                  <a:cubicBezTo>
                    <a:pt x="9996909" y="2031632"/>
                    <a:pt x="9897907" y="2072640"/>
                    <a:pt x="9794677" y="2072640"/>
                  </a:cubicBezTo>
                  <a:lnTo>
                    <a:pt x="389228" y="2072640"/>
                  </a:lnTo>
                  <a:cubicBezTo>
                    <a:pt x="285998" y="2072640"/>
                    <a:pt x="186997" y="2031632"/>
                    <a:pt x="114002" y="1958638"/>
                  </a:cubicBezTo>
                  <a:cubicBezTo>
                    <a:pt x="41008" y="1885643"/>
                    <a:pt x="0" y="1786642"/>
                    <a:pt x="0" y="1683412"/>
                  </a:cubicBezTo>
                  <a:lnTo>
                    <a:pt x="0" y="389228"/>
                  </a:lnTo>
                  <a:cubicBezTo>
                    <a:pt x="0" y="285998"/>
                    <a:pt x="41008" y="186997"/>
                    <a:pt x="114002" y="114002"/>
                  </a:cubicBezTo>
                  <a:cubicBezTo>
                    <a:pt x="186997" y="41008"/>
                    <a:pt x="285998" y="0"/>
                    <a:pt x="389228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03267" y="8138160"/>
            <a:ext cx="4391809" cy="640080"/>
            <a:chOff x="0" y="0"/>
            <a:chExt cx="5855746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5746" cy="853440"/>
            </a:xfrm>
            <a:custGeom>
              <a:avLst/>
              <a:gdLst/>
              <a:ahLst/>
              <a:cxnLst/>
              <a:rect r="r" b="b" t="t" l="l"/>
              <a:pathLst>
                <a:path h="853440" w="5855746">
                  <a:moveTo>
                    <a:pt x="0" y="0"/>
                  </a:moveTo>
                  <a:lnTo>
                    <a:pt x="5855746" y="0"/>
                  </a:lnTo>
                  <a:lnTo>
                    <a:pt x="5855746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4225" b="-780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5855746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Money Saved / User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586025" y="8138160"/>
            <a:ext cx="2291379" cy="935431"/>
            <a:chOff x="0" y="0"/>
            <a:chExt cx="3055172" cy="12472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55172" cy="1247242"/>
            </a:xfrm>
            <a:custGeom>
              <a:avLst/>
              <a:gdLst/>
              <a:ahLst/>
              <a:cxnLst/>
              <a:rect r="r" b="b" t="t" l="l"/>
              <a:pathLst>
                <a:path h="1247242" w="3055172">
                  <a:moveTo>
                    <a:pt x="0" y="0"/>
                  </a:moveTo>
                  <a:lnTo>
                    <a:pt x="3055172" y="0"/>
                  </a:lnTo>
                  <a:lnTo>
                    <a:pt x="3055172" y="1247242"/>
                  </a:lnTo>
                  <a:lnTo>
                    <a:pt x="0" y="1247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4" r="4225" b="1029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23825"/>
              <a:ext cx="3055172" cy="137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759"/>
                </a:lnSpc>
              </a:pPr>
              <a:r>
                <a:rPr lang="en-US" sz="48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$40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03267" y="8961120"/>
            <a:ext cx="6683188" cy="548640"/>
            <a:chOff x="0" y="0"/>
            <a:chExt cx="8910918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10917" cy="731520"/>
            </a:xfrm>
            <a:custGeom>
              <a:avLst/>
              <a:gdLst/>
              <a:ahLst/>
              <a:cxnLst/>
              <a:rect r="r" b="b" t="t" l="l"/>
              <a:pathLst>
                <a:path h="731520" w="8910917">
                  <a:moveTo>
                    <a:pt x="0" y="0"/>
                  </a:moveTo>
                  <a:lnTo>
                    <a:pt x="8910917" y="0"/>
                  </a:lnTo>
                  <a:lnTo>
                    <a:pt x="891091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4225" b="-1773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91091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Per month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E461B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60045" y="521843"/>
            <a:ext cx="6599255" cy="548640"/>
            <a:chOff x="0" y="0"/>
            <a:chExt cx="8799007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99007" cy="731520"/>
            </a:xfrm>
            <a:custGeom>
              <a:avLst/>
              <a:gdLst/>
              <a:ahLst/>
              <a:cxnLst/>
              <a:rect r="r" b="b" t="t" l="l"/>
              <a:pathLst>
                <a:path h="731520" w="8799007">
                  <a:moveTo>
                    <a:pt x="0" y="0"/>
                  </a:moveTo>
                  <a:lnTo>
                    <a:pt x="8799007" y="0"/>
                  </a:lnTo>
                  <a:lnTo>
                    <a:pt x="879900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-2535" b="-1903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79900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E461B"/>
                  </a:solidFill>
                  <a:latin typeface="Agrandir"/>
                  <a:ea typeface="Agrandir"/>
                  <a:cs typeface="Agrandir"/>
                  <a:sym typeface="Agrandir"/>
                </a:rPr>
                <a:t>Metrics &amp; KPIs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3040" y="1280160"/>
            <a:ext cx="9144000" cy="2508047"/>
            <a:chOff x="0" y="0"/>
            <a:chExt cx="12192000" cy="3344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3344062"/>
            </a:xfrm>
            <a:custGeom>
              <a:avLst/>
              <a:gdLst/>
              <a:ahLst/>
              <a:cxnLst/>
              <a:rect r="r" b="b" t="t" l="l"/>
              <a:pathLst>
                <a:path h="334406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344062"/>
                  </a:lnTo>
                  <a:lnTo>
                    <a:pt x="0" y="3344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89" r="0" b="-147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00025"/>
              <a:ext cx="12192000" cy="35440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0E461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Go-to-Market</a:t>
              </a:r>
            </a:p>
            <a:p>
              <a:pPr algn="l">
                <a:lnSpc>
                  <a:spcPts val="8640"/>
                </a:lnSpc>
              </a:pPr>
              <a:r>
                <a:rPr lang="en-US" b="true" sz="7200">
                  <a:solidFill>
                    <a:srgbClr val="0E461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Strategy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3040" y="3657600"/>
            <a:ext cx="7315200" cy="731520"/>
            <a:chOff x="0" y="0"/>
            <a:chExt cx="975360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9753600" cy="106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Acquisition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3040" y="4572000"/>
            <a:ext cx="402336" cy="402336"/>
            <a:chOff x="0" y="0"/>
            <a:chExt cx="536448" cy="53644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03120" y="4572000"/>
            <a:ext cx="6400800" cy="640080"/>
            <a:chOff x="0" y="0"/>
            <a:chExt cx="853440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85344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Facebook &amp; Instagram parent groups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5303520"/>
            <a:ext cx="402336" cy="402336"/>
            <a:chOff x="0" y="0"/>
            <a:chExt cx="536448" cy="53644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03120" y="5303520"/>
            <a:ext cx="6400800" cy="640080"/>
            <a:chOff x="0" y="0"/>
            <a:chExt cx="853440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85344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Mom/parent influencer partnerships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3040" y="6035040"/>
            <a:ext cx="402336" cy="402336"/>
            <a:chOff x="0" y="0"/>
            <a:chExt cx="536448" cy="53644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03120" y="6035040"/>
            <a:ext cx="6400800" cy="640080"/>
            <a:chOff x="0" y="0"/>
            <a:chExt cx="85344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85344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Coupon &amp; meal planning communities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3040" y="6766560"/>
            <a:ext cx="402336" cy="402336"/>
            <a:chOff x="0" y="0"/>
            <a:chExt cx="536448" cy="53644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03120" y="6766560"/>
            <a:ext cx="6400800" cy="640080"/>
            <a:chOff x="0" y="0"/>
            <a:chExt cx="853440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85344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Grocery-adjacent touchpoints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3040" y="7680960"/>
            <a:ext cx="7315200" cy="731520"/>
            <a:chOff x="0" y="0"/>
            <a:chExt cx="975360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9753600" cy="106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Monetization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3040" y="8412480"/>
            <a:ext cx="7315200" cy="1463040"/>
            <a:chOff x="0" y="0"/>
            <a:chExt cx="975360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61925"/>
              <a:ext cx="9753600" cy="2112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Freemium model — free core tracking.</a:t>
              </a:r>
            </a:p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Premium: advanced analytics, meal planning,</a:t>
              </a:r>
            </a:p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2D4D31"/>
                  </a:solidFill>
                  <a:latin typeface="Agrandir"/>
                  <a:ea typeface="Agrandir"/>
                  <a:cs typeface="Agrandir"/>
                  <a:sym typeface="Agrandir"/>
                </a:rPr>
                <a:t>family sharing, and grocery integrations.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09760" y="3474720"/>
            <a:ext cx="7863840" cy="6217920"/>
            <a:chOff x="0" y="0"/>
            <a:chExt cx="10485120" cy="8290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85120" cy="8290560"/>
            </a:xfrm>
            <a:custGeom>
              <a:avLst/>
              <a:gdLst/>
              <a:ahLst/>
              <a:cxnLst/>
              <a:rect r="r" b="b" t="t" l="l"/>
              <a:pathLst>
                <a:path h="8290560" w="10485120">
                  <a:moveTo>
                    <a:pt x="406400" y="0"/>
                  </a:moveTo>
                  <a:lnTo>
                    <a:pt x="10078720" y="0"/>
                  </a:lnTo>
                  <a:cubicBezTo>
                    <a:pt x="10186504" y="0"/>
                    <a:pt x="10289873" y="42817"/>
                    <a:pt x="10366088" y="119032"/>
                  </a:cubicBezTo>
                  <a:cubicBezTo>
                    <a:pt x="10442303" y="195247"/>
                    <a:pt x="10485120" y="298616"/>
                    <a:pt x="10485120" y="406400"/>
                  </a:cubicBezTo>
                  <a:lnTo>
                    <a:pt x="10485120" y="7884160"/>
                  </a:lnTo>
                  <a:cubicBezTo>
                    <a:pt x="10485120" y="8108608"/>
                    <a:pt x="10303168" y="8290560"/>
                    <a:pt x="10078720" y="8290560"/>
                  </a:cubicBezTo>
                  <a:lnTo>
                    <a:pt x="406400" y="8290560"/>
                  </a:lnTo>
                  <a:cubicBezTo>
                    <a:pt x="298616" y="8290560"/>
                    <a:pt x="195247" y="8247743"/>
                    <a:pt x="119032" y="8171528"/>
                  </a:cubicBezTo>
                  <a:cubicBezTo>
                    <a:pt x="42817" y="8095314"/>
                    <a:pt x="0" y="7991944"/>
                    <a:pt x="0" y="788416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2D4D3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0" y="4023360"/>
            <a:ext cx="640080" cy="640080"/>
            <a:chOff x="0" y="0"/>
            <a:chExt cx="85344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44654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58400" y="4023360"/>
            <a:ext cx="640080" cy="640080"/>
            <a:chOff x="0" y="0"/>
            <a:chExt cx="85344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72800" y="3931920"/>
            <a:ext cx="5486400" cy="548640"/>
            <a:chOff x="0" y="0"/>
            <a:chExt cx="73152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7315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Awareness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972800" y="4480560"/>
            <a:ext cx="5852160" cy="548640"/>
            <a:chOff x="0" y="0"/>
            <a:chExt cx="78028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78028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Content: "How families waste $1,500/yr"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0" y="5394960"/>
            <a:ext cx="640080" cy="640080"/>
            <a:chOff x="0" y="0"/>
            <a:chExt cx="85344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44654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058400" y="5394960"/>
            <a:ext cx="640080" cy="640080"/>
            <a:chOff x="0" y="0"/>
            <a:chExt cx="85344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0" y="5303520"/>
            <a:ext cx="5486400" cy="548640"/>
            <a:chOff x="0" y="0"/>
            <a:chExt cx="73152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7315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Activation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0" y="5852160"/>
            <a:ext cx="5852160" cy="548640"/>
            <a:chOff x="0" y="0"/>
            <a:chExt cx="78028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78028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Receipt scan → instant grocery log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58400" y="6766560"/>
            <a:ext cx="640080" cy="640080"/>
            <a:chOff x="0" y="0"/>
            <a:chExt cx="853440" cy="853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44654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58400" y="6766560"/>
            <a:ext cx="640080" cy="640080"/>
            <a:chOff x="0" y="0"/>
            <a:chExt cx="85344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972800" y="6675120"/>
            <a:ext cx="5486400" cy="548640"/>
            <a:chOff x="0" y="0"/>
            <a:chExt cx="73152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7315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Retention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972800" y="7223760"/>
            <a:ext cx="5852160" cy="548640"/>
            <a:chOff x="0" y="0"/>
            <a:chExt cx="78028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78028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Expiration reminders + weekly reports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58400" y="8138160"/>
            <a:ext cx="640080" cy="640080"/>
            <a:chOff x="0" y="0"/>
            <a:chExt cx="853440" cy="8534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44654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58400" y="8138160"/>
            <a:ext cx="640080" cy="640080"/>
            <a:chOff x="0" y="0"/>
            <a:chExt cx="85344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8534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972800" y="8046720"/>
            <a:ext cx="5486400" cy="548640"/>
            <a:chOff x="0" y="0"/>
            <a:chExt cx="73152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7315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Growth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972800" y="8595360"/>
            <a:ext cx="5852160" cy="548640"/>
            <a:chOff x="0" y="0"/>
            <a:chExt cx="780288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78028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C37A"/>
                  </a:solidFill>
                  <a:latin typeface="Agrandir"/>
                  <a:ea typeface="Agrandir"/>
                  <a:cs typeface="Agrandir"/>
                  <a:sym typeface="Agrandir"/>
                </a:rPr>
                <a:t>Word of mouth + family sharing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8700" y="521843"/>
            <a:ext cx="3567165" cy="548640"/>
            <a:chOff x="0" y="0"/>
            <a:chExt cx="475622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5622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6220">
                  <a:moveTo>
                    <a:pt x="0" y="0"/>
                  </a:moveTo>
                  <a:lnTo>
                    <a:pt x="4756220" y="0"/>
                  </a:lnTo>
                  <a:lnTo>
                    <a:pt x="47562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-2535" b="-7990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47562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E461B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660045" y="521843"/>
            <a:ext cx="6599255" cy="548640"/>
            <a:chOff x="0" y="0"/>
            <a:chExt cx="8799007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99007" cy="731520"/>
            </a:xfrm>
            <a:custGeom>
              <a:avLst/>
              <a:gdLst/>
              <a:ahLst/>
              <a:cxnLst/>
              <a:rect r="r" b="b" t="t" l="l"/>
              <a:pathLst>
                <a:path h="731520" w="8799007">
                  <a:moveTo>
                    <a:pt x="0" y="0"/>
                  </a:moveTo>
                  <a:lnTo>
                    <a:pt x="8799007" y="0"/>
                  </a:lnTo>
                  <a:lnTo>
                    <a:pt x="8799007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-2535" b="-19031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8799007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E461B"/>
                  </a:solidFill>
                  <a:latin typeface="Agrandir"/>
                  <a:ea typeface="Agrandir"/>
                  <a:cs typeface="Agrandir"/>
                  <a:sym typeface="Agrandir"/>
                </a:rPr>
                <a:t>GTM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4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666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4D31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2194560"/>
            <a:ext cx="7315200" cy="2198548"/>
            <a:chOff x="0" y="0"/>
            <a:chExt cx="9753600" cy="29313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53600" cy="2931397"/>
            </a:xfrm>
            <a:custGeom>
              <a:avLst/>
              <a:gdLst/>
              <a:ahLst/>
              <a:cxnLst/>
              <a:rect r="r" b="b" t="t" l="l"/>
              <a:pathLst>
                <a:path h="2931397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31397"/>
                  </a:lnTo>
                  <a:lnTo>
                    <a:pt x="0" y="29313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241" r="0" b="-64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9753600" cy="3264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b="true" sz="11199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Q &amp; 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37637" y="4363717"/>
            <a:ext cx="4622797" cy="50797"/>
            <a:chOff x="0" y="0"/>
            <a:chExt cx="6163729" cy="67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3909" y="0"/>
              <a:ext cx="6096000" cy="67691"/>
            </a:xfrm>
            <a:custGeom>
              <a:avLst/>
              <a:gdLst/>
              <a:ahLst/>
              <a:cxnLst/>
              <a:rect r="r" b="b" t="t" l="l"/>
              <a:pathLst>
                <a:path h="67691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FFF5E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4937760"/>
            <a:ext cx="7315200" cy="1463040"/>
            <a:chOff x="0" y="0"/>
            <a:chExt cx="975360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66700"/>
              <a:ext cx="9753600" cy="2217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60"/>
                </a:lnSpc>
              </a:pPr>
              <a:r>
                <a:rPr lang="en-US" sz="3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 for your time.</a:t>
              </a:r>
            </a:p>
            <a:p>
              <a:pPr algn="l">
                <a:lnSpc>
                  <a:spcPts val="5760"/>
                </a:lnSpc>
              </a:pPr>
              <a:r>
                <a:rPr lang="en-US" sz="3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We'd love to hear your questions.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7315200"/>
            <a:ext cx="7315200" cy="914400"/>
            <a:chOff x="0" y="0"/>
            <a:chExt cx="97536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97536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FridgeHero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8229600"/>
            <a:ext cx="7315200" cy="1097280"/>
            <a:chOff x="0" y="0"/>
            <a:chExt cx="975360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9753600" cy="1624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6"/>
                </a:lnSpc>
              </a:pPr>
              <a:r>
                <a:rPr lang="en-US" sz="22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Food Waste Tracker Team</a:t>
              </a:r>
            </a:p>
            <a:p>
              <a:pPr algn="l">
                <a:lnSpc>
                  <a:spcPts val="3696"/>
                </a:lnSpc>
              </a:pPr>
              <a:r>
                <a:rPr lang="en-US" sz="2200" u="sng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  <a:hlinkClick r:id="rId5" tooltip="https://preview--figgy-build-buddy.lovable.app/?__lovable_token=eyJhbGciOiJSUzI1NiIsInR5cCI6IkpXVCJ9.eyJ1c2VyX2lkIjoidlYyekNmOTBrdmVScDh3SGlGZExFY2xsZ1g3MyIsInByb2plY3RfaWQiOiJjZjJmNGNiMi01NzYzLTRlNDItYTQ0YS0zN2JjMmUyMTU2N2YiLCJhY2Nlc3NfdHlwZSI6InByb2plY3QiLCJpc3MiOiJsb3ZhYmxlLWFwaSIsInN1YiI6ImNmMmY0Y2IyLTU3NjMtNGU0Mi1hNDRhLTM3YmMyZTIxNTY3ZiIsImF1ZCI6WyJsb3ZhYmxlLWFwcCJdLCJleHAiOjE3NzY3MDEwMDgsIm5iZiI6MTc3NjA5NjIwOCwiaWF0IjoxNzc2MDk2MjA4fQ.FLgzbBX3BjGCib1pfC3RYNWG3lCz0zf8L0wTmG6Vddi8MAN4_lEPOnMMiypDVeybErQjtXFkQS_Inf4auuleyUG-WBLVAvCv8iVhraCrMRBYS5FQC1-JiVOAX4VO85ZnBBXdtLrQxXqcr-eI87nU_O-HOjwcMDGMGUkH7Xf2EuZH1QqBUX29-TmNlK0A4DpwfkWatqSByI3XYjRD-NJwfrmvS1cnwqOfM2wIOJlIm9Wcv_eb5Q4I5IGqEslIruWBAsM44W5Um1G3SKlC1ZUejWHJLMA9dyNavHTXWe3KCvO-qPpJxbE7_KEqlqVcW72TdF8vYuRjeMtx_xJJzwJKjCVmzPAny0rpBLw3M7soLbeFxBRAnprAF15Vnxl3pJc2Bkw1TZRFALIZFbcycIoPEXgB9sngDWmHhBXAWTKSylssbJYL7hK2NiWMp4mbrWHwIscTolNF2AICUCBG7jvc9DgR6xFrEROaVE9AndOi8t5BE7pxX1cp7Jkv0FIzojkCce7-iH53oB22YbC4JgoK-fQx6fD2VT3URC8yVMrvbzd0D3ooK4S0ZR-Q0zqto9hXcsW1sWDxE437zQQjvLsWpeplcYasuNvOxyAWk5FNUTcpqw0eO_HYMovY9uClf8iPzbaFrgrebSt4UL8dAeXm_Edcy4tbKpT7-FuVqy1mDI0"/>
                </a:rPr>
                <a:t>fridgehero App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DAHGMz2Ndo0</dc:identifier>
  <dcterms:modified xsi:type="dcterms:W3CDTF">2011-08-01T06:04:30Z</dcterms:modified>
  <cp:revision>1</cp:revision>
  <dc:title>FridgeHero_Presentation_Final</dc:title>
</cp:coreProperties>
</file>